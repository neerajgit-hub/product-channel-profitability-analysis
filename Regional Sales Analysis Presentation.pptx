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8" r:id="rId2"/>
  </p:sldMasterIdLst>
  <p:notesMasterIdLst>
    <p:notesMasterId r:id="rId34"/>
  </p:notesMasterIdLst>
  <p:sldIdLst>
    <p:sldId id="256" r:id="rId3"/>
    <p:sldId id="257" r:id="rId4"/>
    <p:sldId id="258" r:id="rId5"/>
    <p:sldId id="259" r:id="rId6"/>
    <p:sldId id="337" r:id="rId7"/>
    <p:sldId id="363" r:id="rId8"/>
    <p:sldId id="354" r:id="rId9"/>
    <p:sldId id="364" r:id="rId10"/>
    <p:sldId id="356" r:id="rId11"/>
    <p:sldId id="357" r:id="rId12"/>
    <p:sldId id="366" r:id="rId13"/>
    <p:sldId id="359" r:id="rId14"/>
    <p:sldId id="358" r:id="rId15"/>
    <p:sldId id="360" r:id="rId16"/>
    <p:sldId id="264" r:id="rId17"/>
    <p:sldId id="265" r:id="rId18"/>
    <p:sldId id="338" r:id="rId19"/>
    <p:sldId id="339" r:id="rId20"/>
    <p:sldId id="340" r:id="rId21"/>
    <p:sldId id="341" r:id="rId22"/>
    <p:sldId id="342" r:id="rId23"/>
    <p:sldId id="343" r:id="rId24"/>
    <p:sldId id="344" r:id="rId25"/>
    <p:sldId id="345" r:id="rId26"/>
    <p:sldId id="346" r:id="rId27"/>
    <p:sldId id="347" r:id="rId28"/>
    <p:sldId id="271" r:id="rId29"/>
    <p:sldId id="266" r:id="rId30"/>
    <p:sldId id="348" r:id="rId31"/>
    <p:sldId id="349" r:id="rId32"/>
    <p:sldId id="365" r:id="rId33"/>
  </p:sldIdLst>
  <p:sldSz cx="12192000" cy="6858000"/>
  <p:notesSz cx="6858000" cy="9144000"/>
  <p:embeddedFontLst>
    <p:embeddedFont>
      <p:font typeface="Poppins" panose="020B0604020202020204" charset="0"/>
      <p:regular r:id="rId35"/>
      <p:bold r:id="rId36"/>
      <p:italic r:id="rId37"/>
      <p:boldItalic r:id="rId38"/>
    </p:embeddedFont>
    <p:embeddedFont>
      <p:font typeface="Calibri" panose="020F0502020204030204" pitchFamily="34" charset="0"/>
      <p:regular r:id="rId39"/>
      <p:bold r:id="rId40"/>
      <p:italic r:id="rId41"/>
      <p:boldItalic r:id="rId42"/>
    </p:embeddedFont>
    <p:embeddedFont>
      <p:font typeface="Comic Sans MS" panose="030F0702030302020204" pitchFamily="66"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0" roundtripDataSignature="AMtx7mhTXryCM6yWzAT2k/yYPT4fZblho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5.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notesMaster" Target="notesMasters/notesMaster1.xml"/><Relationship Id="rId42" Type="http://schemas.openxmlformats.org/officeDocument/2006/relationships/font" Target="fonts/font8.fntdata"/><Relationship Id="rId10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4.fntdata"/><Relationship Id="rId46" Type="http://schemas.openxmlformats.org/officeDocument/2006/relationships/font" Target="fonts/font12.fntdata"/><Relationship Id="rId10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10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2.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10.fntdata"/><Relationship Id="rId10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1.fntdata"/><Relationship Id="rId43" Type="http://schemas.openxmlformats.org/officeDocument/2006/relationships/font" Target="fonts/font9.fntdata"/><Relationship Id="rId100" Type="http://customschemas.google.com/relationships/presentationmetadata" Target="metadata"/><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12153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21194ee596e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g21194ee596e_0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dirty="0"/>
          </a:p>
        </p:txBody>
      </p:sp>
      <p:sp>
        <p:nvSpPr>
          <p:cNvPr id="134" name="Google Shape;134;g21194ee596e_0_1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13656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144" name="Google Shape;14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1616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3075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1194ee596e_0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g21194ee596e_0_1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66" name="Google Shape;166;g21194ee596e_0_1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102999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6712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55037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7385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90782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54" name="Google Shape;15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1448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38413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28742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34453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69102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1197e7cf6e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g21197e7cf6e_0_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194" name="Google Shape;194;g21197e7cf6e_0_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686097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1197e7cf6e_0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35" name="Google Shape;235;g21197e7cf6e_0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1671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535251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20431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16386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19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745810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88235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9110279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706850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265825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95426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175604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1197e7cf6e_0_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21197e7cf6e_0_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47" name="Google Shape;247;g21197e7cf6e_0_9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331989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404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28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2168414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1197e7cf6e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325" name="Google Shape;325;g21197e7cf6e_0_2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15534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45369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1194ee596e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g21194ee596e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Clr>
                <a:srgbClr val="3E4754"/>
              </a:buClr>
              <a:buSzPts val="1800"/>
              <a:buFont typeface="Source Sans Pro"/>
              <a:buNone/>
            </a:pPr>
            <a:endParaRPr sz="1800"/>
          </a:p>
        </p:txBody>
      </p:sp>
      <p:sp>
        <p:nvSpPr>
          <p:cNvPr id="261" name="Google Shape;261;g21194ee596e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Calibri"/>
                <a:ea typeface="Calibri"/>
                <a:cs typeface="Calibri"/>
                <a:sym typeface="Calibri"/>
              </a:rPr>
              <a:t>31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4057628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3"/>
        <p:cNvGrpSpPr/>
        <p:nvPr/>
      </p:nvGrpSpPr>
      <p:grpSpPr>
        <a:xfrm>
          <a:off x="0" y="0"/>
          <a:ext cx="0" cy="0"/>
          <a:chOff x="0" y="0"/>
          <a:chExt cx="0" cy="0"/>
        </a:xfrm>
      </p:grpSpPr>
      <p:sp>
        <p:nvSpPr>
          <p:cNvPr id="14" name="Google Shape;14;g21194ee596e_0_119"/>
          <p:cNvSpPr txBox="1">
            <a:spLocks noGrp="1"/>
          </p:cNvSpPr>
          <p:nvPr>
            <p:ph type="title"/>
          </p:nvPr>
        </p:nvSpPr>
        <p:spPr>
          <a:xfrm>
            <a:off x="345622" y="365125"/>
            <a:ext cx="11500800" cy="430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5" name="Google Shape;15;g21194ee596e_0_1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16" name="Google Shape;16;g21194ee596e_0_119"/>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 name="Google Shape;17;g21194ee596e_0_119"/>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18" name="Google Shape;18;g21194ee596e_0_119"/>
          <p:cNvSpPr txBox="1"/>
          <p:nvPr/>
        </p:nvSpPr>
        <p:spPr>
          <a:xfrm>
            <a:off x="5060460" y="6306200"/>
            <a:ext cx="2071200" cy="138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19" name="Google Shape;19;g21194ee596e_0_119"/>
          <p:cNvPicPr preferRelativeResize="0"/>
          <p:nvPr/>
        </p:nvPicPr>
        <p:blipFill rotWithShape="1">
          <a:blip r:embed="rId3">
            <a:alphaModFix/>
          </a:blip>
          <a:srcRect/>
          <a:stretch/>
        </p:blipFill>
        <p:spPr>
          <a:xfrm>
            <a:off x="6453174" y="602584"/>
            <a:ext cx="5619082" cy="56528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9"/>
        <p:cNvGrpSpPr/>
        <p:nvPr/>
      </p:nvGrpSpPr>
      <p:grpSpPr>
        <a:xfrm>
          <a:off x="0" y="0"/>
          <a:ext cx="0" cy="0"/>
          <a:chOff x="0" y="0"/>
          <a:chExt cx="0" cy="0"/>
        </a:xfrm>
      </p:grpSpPr>
      <p:sp>
        <p:nvSpPr>
          <p:cNvPr id="50" name="Google Shape;50;g21194ee596e_0_148"/>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g21194ee596e_0_148"/>
          <p:cNvSpPr>
            <a:spLocks noGrp="1"/>
          </p:cNvSpPr>
          <p:nvPr>
            <p:ph type="pic" idx="2"/>
          </p:nvPr>
        </p:nvSpPr>
        <p:spPr>
          <a:xfrm>
            <a:off x="5183188" y="987425"/>
            <a:ext cx="6172200" cy="4873500"/>
          </a:xfrm>
          <a:prstGeom prst="rect">
            <a:avLst/>
          </a:prstGeom>
          <a:noFill/>
          <a:ln>
            <a:noFill/>
          </a:ln>
        </p:spPr>
      </p:sp>
      <p:sp>
        <p:nvSpPr>
          <p:cNvPr id="52" name="Google Shape;52;g21194ee596e_0_148"/>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3" name="Google Shape;53;g21194ee596e_0_14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g21194ee596e_0_14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g21194ee596e_0_14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6"/>
        <p:cNvGrpSpPr/>
        <p:nvPr/>
      </p:nvGrpSpPr>
      <p:grpSpPr>
        <a:xfrm>
          <a:off x="0" y="0"/>
          <a:ext cx="0" cy="0"/>
          <a:chOff x="0" y="0"/>
          <a:chExt cx="0" cy="0"/>
        </a:xfrm>
      </p:grpSpPr>
      <p:sp>
        <p:nvSpPr>
          <p:cNvPr id="57" name="Google Shape;57;g21194ee596e_0_1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g21194ee596e_0_15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g21194ee596e_0_1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g21194ee596e_0_1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g21194ee596e_0_155"/>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2"/>
        <p:cNvGrpSpPr/>
        <p:nvPr/>
      </p:nvGrpSpPr>
      <p:grpSpPr>
        <a:xfrm>
          <a:off x="0" y="0"/>
          <a:ext cx="0" cy="0"/>
          <a:chOff x="0" y="0"/>
          <a:chExt cx="0" cy="0"/>
        </a:xfrm>
      </p:grpSpPr>
      <p:sp>
        <p:nvSpPr>
          <p:cNvPr id="63" name="Google Shape;63;g21194ee596e_0_161"/>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g21194ee596e_0_161"/>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g21194ee596e_0_16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g21194ee596e_0_16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g21194ee596e_0_161"/>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8"/>
        <p:cNvGrpSpPr/>
        <p:nvPr/>
      </p:nvGrpSpPr>
      <p:grpSpPr>
        <a:xfrm>
          <a:off x="0" y="0"/>
          <a:ext cx="0" cy="0"/>
          <a:chOff x="0" y="0"/>
          <a:chExt cx="0" cy="0"/>
        </a:xfrm>
      </p:grpSpPr>
      <p:sp>
        <p:nvSpPr>
          <p:cNvPr id="69" name="Google Shape;69;g215a699482b_6_10"/>
          <p:cNvSpPr txBox="1">
            <a:spLocks noGrp="1"/>
          </p:cNvSpPr>
          <p:nvPr>
            <p:ph type="title"/>
          </p:nvPr>
        </p:nvSpPr>
        <p:spPr>
          <a:xfrm>
            <a:off x="415600" y="593367"/>
            <a:ext cx="11360800" cy="763600"/>
          </a:xfrm>
          <a:prstGeom prst="rect">
            <a:avLst/>
          </a:prstGeom>
        </p:spPr>
        <p:txBody>
          <a:bodyPr spcFirstLastPara="1" wrap="square" lIns="121900" tIns="121900" rIns="121900" bIns="121900" anchor="ctr" anchorCtr="0">
            <a:noAutofit/>
          </a:bodyPr>
          <a:lstStyle>
            <a:lvl1pPr lvl="0">
              <a:spcBef>
                <a:spcPts val="0"/>
              </a:spcBef>
              <a:spcAft>
                <a:spcPts val="0"/>
              </a:spcAft>
              <a:buSzPts val="1900"/>
              <a:buNone/>
              <a:defRPr sz="1900"/>
            </a:lvl1pPr>
            <a:lvl2pPr lvl="1">
              <a:spcBef>
                <a:spcPts val="0"/>
              </a:spcBef>
              <a:spcAft>
                <a:spcPts val="0"/>
              </a:spcAft>
              <a:buSzPts val="1900"/>
              <a:buNone/>
              <a:defRPr sz="1900"/>
            </a:lvl2pPr>
            <a:lvl3pPr lvl="2">
              <a:spcBef>
                <a:spcPts val="0"/>
              </a:spcBef>
              <a:spcAft>
                <a:spcPts val="0"/>
              </a:spcAft>
              <a:buSzPts val="1900"/>
              <a:buNone/>
              <a:defRPr sz="1900"/>
            </a:lvl3pPr>
            <a:lvl4pPr lvl="3">
              <a:spcBef>
                <a:spcPts val="0"/>
              </a:spcBef>
              <a:spcAft>
                <a:spcPts val="0"/>
              </a:spcAft>
              <a:buSzPts val="1900"/>
              <a:buNone/>
              <a:defRPr sz="1900"/>
            </a:lvl4pPr>
            <a:lvl5pPr lvl="4">
              <a:spcBef>
                <a:spcPts val="0"/>
              </a:spcBef>
              <a:spcAft>
                <a:spcPts val="0"/>
              </a:spcAft>
              <a:buSzPts val="1900"/>
              <a:buNone/>
              <a:defRPr sz="1900"/>
            </a:lvl5pPr>
            <a:lvl6pPr lvl="5">
              <a:spcBef>
                <a:spcPts val="0"/>
              </a:spcBef>
              <a:spcAft>
                <a:spcPts val="0"/>
              </a:spcAft>
              <a:buSzPts val="1900"/>
              <a:buNone/>
              <a:defRPr sz="1900"/>
            </a:lvl6pPr>
            <a:lvl7pPr lvl="6">
              <a:spcBef>
                <a:spcPts val="0"/>
              </a:spcBef>
              <a:spcAft>
                <a:spcPts val="0"/>
              </a:spcAft>
              <a:buSzPts val="1900"/>
              <a:buNone/>
              <a:defRPr sz="1900"/>
            </a:lvl7pPr>
            <a:lvl8pPr lvl="7">
              <a:spcBef>
                <a:spcPts val="0"/>
              </a:spcBef>
              <a:spcAft>
                <a:spcPts val="0"/>
              </a:spcAft>
              <a:buSzPts val="1900"/>
              <a:buNone/>
              <a:defRPr sz="1900"/>
            </a:lvl8pPr>
            <a:lvl9pPr lvl="8">
              <a:spcBef>
                <a:spcPts val="0"/>
              </a:spcBef>
              <a:spcAft>
                <a:spcPts val="0"/>
              </a:spcAft>
              <a:buSzPts val="1900"/>
              <a:buNone/>
              <a:defRPr sz="1900"/>
            </a:lvl9pPr>
          </a:lstStyle>
          <a:p>
            <a:endParaRPr/>
          </a:p>
        </p:txBody>
      </p:sp>
      <p:sp>
        <p:nvSpPr>
          <p:cNvPr id="70" name="Google Shape;70;g215a699482b_6_10"/>
          <p:cNvSpPr txBox="1">
            <a:spLocks noGrp="1"/>
          </p:cNvSpPr>
          <p:nvPr>
            <p:ph type="body" idx="1"/>
          </p:nvPr>
        </p:nvSpPr>
        <p:spPr>
          <a:xfrm>
            <a:off x="415600" y="1536633"/>
            <a:ext cx="11360800" cy="4555200"/>
          </a:xfrm>
          <a:prstGeom prst="rect">
            <a:avLst/>
          </a:prstGeom>
        </p:spPr>
        <p:txBody>
          <a:bodyPr spcFirstLastPara="1" wrap="square" lIns="121900" tIns="121900" rIns="121900" bIns="121900" anchor="t" anchorCtr="0">
            <a:noAutofit/>
          </a:bodyPr>
          <a:lstStyle>
            <a:lvl1pPr marL="457200" lvl="0" indent="-349250">
              <a:spcBef>
                <a:spcPts val="1000"/>
              </a:spcBef>
              <a:spcAft>
                <a:spcPts val="0"/>
              </a:spcAft>
              <a:buSzPts val="1900"/>
              <a:buChar char="•"/>
              <a:defRPr sz="1900"/>
            </a:lvl1pPr>
            <a:lvl2pPr marL="914400" lvl="1" indent="-349250">
              <a:spcBef>
                <a:spcPts val="500"/>
              </a:spcBef>
              <a:spcAft>
                <a:spcPts val="0"/>
              </a:spcAft>
              <a:buSzPts val="1900"/>
              <a:buChar char="•"/>
              <a:defRPr sz="1900"/>
            </a:lvl2pPr>
            <a:lvl3pPr marL="1371600" lvl="2" indent="-349250">
              <a:spcBef>
                <a:spcPts val="500"/>
              </a:spcBef>
              <a:spcAft>
                <a:spcPts val="0"/>
              </a:spcAft>
              <a:buSzPts val="1900"/>
              <a:buChar char="•"/>
              <a:defRPr sz="1900"/>
            </a:lvl3pPr>
            <a:lvl4pPr marL="1828800" lvl="3" indent="-349250">
              <a:spcBef>
                <a:spcPts val="500"/>
              </a:spcBef>
              <a:spcAft>
                <a:spcPts val="0"/>
              </a:spcAft>
              <a:buSzPts val="1900"/>
              <a:buChar char="•"/>
              <a:defRPr sz="1900"/>
            </a:lvl4pPr>
            <a:lvl5pPr marL="2286000" lvl="4" indent="-349250">
              <a:spcBef>
                <a:spcPts val="500"/>
              </a:spcBef>
              <a:spcAft>
                <a:spcPts val="0"/>
              </a:spcAft>
              <a:buSzPts val="1900"/>
              <a:buChar char="•"/>
              <a:defRPr sz="1900"/>
            </a:lvl5pPr>
            <a:lvl6pPr marL="2743200" lvl="5" indent="-349250">
              <a:spcBef>
                <a:spcPts val="500"/>
              </a:spcBef>
              <a:spcAft>
                <a:spcPts val="0"/>
              </a:spcAft>
              <a:buSzPts val="1900"/>
              <a:buChar char="•"/>
              <a:defRPr sz="1900"/>
            </a:lvl6pPr>
            <a:lvl7pPr marL="3200400" lvl="6" indent="-349250">
              <a:spcBef>
                <a:spcPts val="500"/>
              </a:spcBef>
              <a:spcAft>
                <a:spcPts val="0"/>
              </a:spcAft>
              <a:buSzPts val="1900"/>
              <a:buChar char="•"/>
              <a:defRPr sz="1900"/>
            </a:lvl7pPr>
            <a:lvl8pPr marL="3657600" lvl="7" indent="-349250">
              <a:spcBef>
                <a:spcPts val="500"/>
              </a:spcBef>
              <a:spcAft>
                <a:spcPts val="0"/>
              </a:spcAft>
              <a:buSzPts val="1900"/>
              <a:buChar char="•"/>
              <a:defRPr sz="1900"/>
            </a:lvl8pPr>
            <a:lvl9pPr marL="4114800" lvl="8" indent="-349250">
              <a:spcBef>
                <a:spcPts val="500"/>
              </a:spcBef>
              <a:spcAft>
                <a:spcPts val="0"/>
              </a:spcAft>
              <a:buSzPts val="1900"/>
              <a:buChar char="•"/>
              <a:defRPr sz="1900"/>
            </a:lvl9pPr>
          </a:lstStyle>
          <a:p>
            <a:endParaRPr/>
          </a:p>
        </p:txBody>
      </p:sp>
      <p:sp>
        <p:nvSpPr>
          <p:cNvPr id="71" name="Google Shape;71;g215a699482b_6_10"/>
          <p:cNvSpPr txBox="1">
            <a:spLocks noGrp="1"/>
          </p:cNvSpPr>
          <p:nvPr>
            <p:ph type="sldNum" idx="12"/>
          </p:nvPr>
        </p:nvSpPr>
        <p:spPr>
          <a:xfrm>
            <a:off x="11296610" y="6217622"/>
            <a:ext cx="731600" cy="524800"/>
          </a:xfrm>
          <a:prstGeom prst="rect">
            <a:avLst/>
          </a:prstGeom>
        </p:spPr>
        <p:txBody>
          <a:bodyPr spcFirstLastPara="1" wrap="square" lIns="121900" tIns="121900" rIns="121900" bIns="121900" anchor="ctr" anchorCtr="0">
            <a:noAutofit/>
          </a:bodyPr>
          <a:lstStyle>
            <a:lvl1pPr lvl="0">
              <a:buNone/>
              <a:defRPr sz="1900"/>
            </a:lvl1pPr>
            <a:lvl2pPr lvl="1">
              <a:buNone/>
              <a:defRPr sz="1900"/>
            </a:lvl2pPr>
            <a:lvl3pPr lvl="2">
              <a:buNone/>
              <a:defRPr sz="1900"/>
            </a:lvl3pPr>
            <a:lvl4pPr lvl="3">
              <a:buNone/>
              <a:defRPr sz="1900"/>
            </a:lvl4pPr>
            <a:lvl5pPr lvl="4">
              <a:buNone/>
              <a:defRPr sz="1900"/>
            </a:lvl5pPr>
            <a:lvl6pPr lvl="5">
              <a:buNone/>
              <a:defRPr sz="1900"/>
            </a:lvl6pPr>
            <a:lvl7pPr lvl="6">
              <a:buNone/>
              <a:defRPr sz="1900"/>
            </a:lvl7pPr>
            <a:lvl8pPr lvl="7">
              <a:buNone/>
              <a:defRPr sz="1900"/>
            </a:lvl8pPr>
            <a:lvl9pPr lvl="8">
              <a:buNone/>
              <a:defRPr sz="1900"/>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345622" y="365125"/>
            <a:ext cx="11500757" cy="43088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sz="2800" b="1">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8" name="Google Shape;78;p19"/>
          <p:cNvPicPr preferRelativeResize="0"/>
          <p:nvPr/>
        </p:nvPicPr>
        <p:blipFill rotWithShape="1">
          <a:blip r:embed="rId2">
            <a:alphaModFix/>
          </a:blip>
          <a:srcRect/>
          <a:stretch/>
        </p:blipFill>
        <p:spPr>
          <a:xfrm>
            <a:off x="10680519" y="6258025"/>
            <a:ext cx="1165860" cy="234849"/>
          </a:xfrm>
          <a:prstGeom prst="rect">
            <a:avLst/>
          </a:prstGeom>
          <a:noFill/>
          <a:ln>
            <a:noFill/>
          </a:ln>
        </p:spPr>
      </p:pic>
      <p:sp>
        <p:nvSpPr>
          <p:cNvPr id="79" name="Google Shape;79;p19"/>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0" name="Google Shape;80;p19"/>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lvl1pPr marL="0" marR="0" lvl="0"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1pPr>
            <a:lvl2pPr marL="0" marR="0" lvl="1"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2pPr>
            <a:lvl3pPr marL="0" marR="0" lvl="2"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3pPr>
            <a:lvl4pPr marL="0" marR="0" lvl="3"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4pPr>
            <a:lvl5pPr marL="0" marR="0" lvl="4"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5pPr>
            <a:lvl6pPr marL="0" marR="0" lvl="5"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6pPr>
            <a:lvl7pPr marL="0" marR="0" lvl="6"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7pPr>
            <a:lvl8pPr marL="0" marR="0" lvl="7"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8pPr>
            <a:lvl9pPr marL="0" marR="0" lvl="8" indent="0" algn="ctr">
              <a:lnSpc>
                <a:spcPct val="100000"/>
              </a:lnSpc>
              <a:spcBef>
                <a:spcPts val="0"/>
              </a:spcBef>
              <a:spcAft>
                <a:spcPts val="0"/>
              </a:spcAft>
              <a:buClr>
                <a:schemeClr val="lt1"/>
              </a:buClr>
              <a:buSzPts val="900"/>
              <a:buFont typeface="Poppins"/>
              <a:buNone/>
              <a:defRPr sz="900" b="0" i="0" u="none" strike="noStrike" cap="none">
                <a:solidFill>
                  <a:schemeClr val="lt1"/>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
        <p:nvSpPr>
          <p:cNvPr id="81" name="Google Shape;81;p19"/>
          <p:cNvSpPr txBox="1"/>
          <p:nvPr/>
        </p:nvSpPr>
        <p:spPr>
          <a:xfrm>
            <a:off x="5060460" y="6306200"/>
            <a:ext cx="2071080" cy="13849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F7F7F"/>
                </a:solidFill>
                <a:latin typeface="Poppins"/>
                <a:ea typeface="Poppins"/>
                <a:cs typeface="Poppins"/>
                <a:sym typeface="Poppins"/>
              </a:rPr>
              <a:t>Copyright © 2021 TalentLabs Limited</a:t>
            </a:r>
            <a:endParaRPr sz="1400" b="0" i="0" u="none" strike="noStrike" cap="none">
              <a:solidFill>
                <a:srgbClr val="000000"/>
              </a:solidFill>
              <a:latin typeface="Arial"/>
              <a:ea typeface="Arial"/>
              <a:cs typeface="Arial"/>
              <a:sym typeface="Arial"/>
            </a:endParaRPr>
          </a:p>
        </p:txBody>
      </p:sp>
      <p:pic>
        <p:nvPicPr>
          <p:cNvPr id="82" name="Google Shape;82;p19"/>
          <p:cNvPicPr preferRelativeResize="0"/>
          <p:nvPr/>
        </p:nvPicPr>
        <p:blipFill rotWithShape="1">
          <a:blip r:embed="rId3">
            <a:alphaModFix/>
          </a:blip>
          <a:srcRect/>
          <a:stretch/>
        </p:blipFill>
        <p:spPr>
          <a:xfrm>
            <a:off x="6453174" y="602584"/>
            <a:ext cx="5619083" cy="565283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3"/>
        <p:cNvGrpSpPr/>
        <p:nvPr/>
      </p:nvGrpSpPr>
      <p:grpSpPr>
        <a:xfrm>
          <a:off x="0" y="0"/>
          <a:ext cx="0" cy="0"/>
          <a:chOff x="0" y="0"/>
          <a:chExt cx="0" cy="0"/>
        </a:xfrm>
      </p:grpSpPr>
      <p:pic>
        <p:nvPicPr>
          <p:cNvPr id="84" name="Google Shape;84;p18" descr="A picture containing indoor, keyboard, close&#10;&#10;Description automatically generated"/>
          <p:cNvPicPr preferRelativeResize="0"/>
          <p:nvPr/>
        </p:nvPicPr>
        <p:blipFill rotWithShape="1">
          <a:blip r:embed="rId2">
            <a:alphaModFix/>
          </a:blip>
          <a:srcRect l="9937" r="9938"/>
          <a:stretch/>
        </p:blipFill>
        <p:spPr>
          <a:xfrm>
            <a:off x="0" y="0"/>
            <a:ext cx="12192000" cy="6858000"/>
          </a:xfrm>
          <a:prstGeom prst="rect">
            <a:avLst/>
          </a:prstGeom>
          <a:noFill/>
          <a:ln>
            <a:noFill/>
          </a:ln>
        </p:spPr>
      </p:pic>
      <p:sp>
        <p:nvSpPr>
          <p:cNvPr id="85" name="Google Shape;85;p18"/>
          <p:cNvSpPr/>
          <p:nvPr/>
        </p:nvSpPr>
        <p:spPr>
          <a:xfrm>
            <a:off x="0" y="0"/>
            <a:ext cx="12192000" cy="6858000"/>
          </a:xfrm>
          <a:prstGeom prst="rect">
            <a:avLst/>
          </a:prstGeom>
          <a:solidFill>
            <a:schemeClr val="dk1">
              <a:alpha val="4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86" name="Google Shape;86;p18"/>
          <p:cNvSpPr txBox="1">
            <a:spLocks noGrp="1"/>
          </p:cNvSpPr>
          <p:nvPr>
            <p:ph type="ctrTitle"/>
          </p:nvPr>
        </p:nvSpPr>
        <p:spPr>
          <a:xfrm>
            <a:off x="1524000" y="2771299"/>
            <a:ext cx="9144000" cy="738664"/>
          </a:xfrm>
          <a:prstGeom prst="rect">
            <a:avLst/>
          </a:prstGeom>
          <a:noFill/>
          <a:ln>
            <a:noFill/>
          </a:ln>
        </p:spPr>
        <p:txBody>
          <a:bodyPr spcFirstLastPara="1" wrap="square" lIns="0" tIns="0" rIns="0" bIns="0" anchor="b" anchorCtr="0">
            <a:spAutoFit/>
          </a:bodyPr>
          <a:lstStyle>
            <a:lvl1pPr lvl="0" algn="ctr">
              <a:lnSpc>
                <a:spcPct val="100000"/>
              </a:lnSpc>
              <a:spcBef>
                <a:spcPts val="0"/>
              </a:spcBef>
              <a:spcAft>
                <a:spcPts val="0"/>
              </a:spcAft>
              <a:buClr>
                <a:schemeClr val="dk1"/>
              </a:buClr>
              <a:buSzPts val="6000"/>
              <a:buFont typeface="Arial"/>
              <a:buNone/>
              <a:defRPr sz="4800" b="1">
                <a:solidFill>
                  <a:schemeClr val="lt1"/>
                </a:solidFill>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8"/>
          <p:cNvSpPr txBox="1">
            <a:spLocks noGrp="1"/>
          </p:cNvSpPr>
          <p:nvPr>
            <p:ph type="subTitle" idx="1"/>
          </p:nvPr>
        </p:nvSpPr>
        <p:spPr>
          <a:xfrm>
            <a:off x="1524000" y="3602038"/>
            <a:ext cx="9144000" cy="369332"/>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Clr>
                <a:schemeClr val="dk1"/>
              </a:buClr>
              <a:buSzPts val="2400"/>
              <a:buNone/>
              <a:defRPr sz="2400">
                <a:solidFill>
                  <a:schemeClr val="lt1"/>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8" name="Google Shape;88;p18"/>
          <p:cNvSpPr txBox="1">
            <a:spLocks noGrp="1"/>
          </p:cNvSpPr>
          <p:nvPr>
            <p:ph type="sldNum" idx="12"/>
          </p:nvPr>
        </p:nvSpPr>
        <p:spPr>
          <a:xfrm>
            <a:off x="483228" y="6446579"/>
            <a:ext cx="709943" cy="184666"/>
          </a:xfrm>
          <a:prstGeom prst="rect">
            <a:avLst/>
          </a:prstGeom>
          <a:noFill/>
          <a:ln>
            <a:noFill/>
          </a:ln>
        </p:spPr>
        <p:txBody>
          <a:bodyPr spcFirstLastPara="1" wrap="square" lIns="0" tIns="0" rIns="0" bIns="0" anchor="ctr" anchorCtr="0">
            <a:sp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pic>
        <p:nvPicPr>
          <p:cNvPr id="89" name="Google Shape;89;p18" descr="Icon&#10;&#10;Description automatically generated with medium confidence"/>
          <p:cNvPicPr preferRelativeResize="0"/>
          <p:nvPr/>
        </p:nvPicPr>
        <p:blipFill rotWithShape="1">
          <a:blip r:embed="rId3">
            <a:alphaModFix/>
          </a:blip>
          <a:srcRect/>
          <a:stretch/>
        </p:blipFill>
        <p:spPr>
          <a:xfrm>
            <a:off x="5191708" y="533248"/>
            <a:ext cx="1808585" cy="36431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0"/>
        <p:cNvGrpSpPr/>
        <p:nvPr/>
      </p:nvGrpSpPr>
      <p:grpSpPr>
        <a:xfrm>
          <a:off x="0" y="0"/>
          <a:ext cx="0" cy="0"/>
          <a:chOff x="0" y="0"/>
          <a:chExt cx="0" cy="0"/>
        </a:xfrm>
      </p:grpSpPr>
      <p:sp>
        <p:nvSpPr>
          <p:cNvPr id="91" name="Google Shape;91;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909297"/>
              </a:buClr>
              <a:buSzPts val="2400"/>
              <a:buNone/>
              <a:defRPr sz="2400">
                <a:solidFill>
                  <a:srgbClr val="909297"/>
                </a:solidFill>
              </a:defRPr>
            </a:lvl1pPr>
            <a:lvl2pPr marL="914400" lvl="1" indent="-228600" algn="l">
              <a:lnSpc>
                <a:spcPct val="90000"/>
              </a:lnSpc>
              <a:spcBef>
                <a:spcPts val="500"/>
              </a:spcBef>
              <a:spcAft>
                <a:spcPts val="0"/>
              </a:spcAft>
              <a:buClr>
                <a:srgbClr val="909297"/>
              </a:buClr>
              <a:buSzPts val="2000"/>
              <a:buNone/>
              <a:defRPr sz="2000">
                <a:solidFill>
                  <a:srgbClr val="909297"/>
                </a:solidFill>
              </a:defRPr>
            </a:lvl2pPr>
            <a:lvl3pPr marL="1371600" lvl="2" indent="-228600" algn="l">
              <a:lnSpc>
                <a:spcPct val="90000"/>
              </a:lnSpc>
              <a:spcBef>
                <a:spcPts val="500"/>
              </a:spcBef>
              <a:spcAft>
                <a:spcPts val="0"/>
              </a:spcAft>
              <a:buClr>
                <a:srgbClr val="909297"/>
              </a:buClr>
              <a:buSzPts val="1800"/>
              <a:buNone/>
              <a:defRPr sz="1800">
                <a:solidFill>
                  <a:srgbClr val="909297"/>
                </a:solidFill>
              </a:defRPr>
            </a:lvl3pPr>
            <a:lvl4pPr marL="1828800" lvl="3" indent="-228600" algn="l">
              <a:lnSpc>
                <a:spcPct val="90000"/>
              </a:lnSpc>
              <a:spcBef>
                <a:spcPts val="500"/>
              </a:spcBef>
              <a:spcAft>
                <a:spcPts val="0"/>
              </a:spcAft>
              <a:buClr>
                <a:srgbClr val="909297"/>
              </a:buClr>
              <a:buSzPts val="1600"/>
              <a:buNone/>
              <a:defRPr sz="1600">
                <a:solidFill>
                  <a:srgbClr val="909297"/>
                </a:solidFill>
              </a:defRPr>
            </a:lvl4pPr>
            <a:lvl5pPr marL="2286000" lvl="4" indent="-228600" algn="l">
              <a:lnSpc>
                <a:spcPct val="90000"/>
              </a:lnSpc>
              <a:spcBef>
                <a:spcPts val="500"/>
              </a:spcBef>
              <a:spcAft>
                <a:spcPts val="0"/>
              </a:spcAft>
              <a:buClr>
                <a:srgbClr val="909297"/>
              </a:buClr>
              <a:buSzPts val="1600"/>
              <a:buNone/>
              <a:defRPr sz="1600">
                <a:solidFill>
                  <a:srgbClr val="909297"/>
                </a:solidFill>
              </a:defRPr>
            </a:lvl5pPr>
            <a:lvl6pPr marL="2743200" lvl="5" indent="-228600" algn="l">
              <a:lnSpc>
                <a:spcPct val="90000"/>
              </a:lnSpc>
              <a:spcBef>
                <a:spcPts val="500"/>
              </a:spcBef>
              <a:spcAft>
                <a:spcPts val="0"/>
              </a:spcAft>
              <a:buClr>
                <a:srgbClr val="909297"/>
              </a:buClr>
              <a:buSzPts val="1600"/>
              <a:buNone/>
              <a:defRPr sz="1600">
                <a:solidFill>
                  <a:srgbClr val="909297"/>
                </a:solidFill>
              </a:defRPr>
            </a:lvl6pPr>
            <a:lvl7pPr marL="3200400" lvl="6" indent="-228600" algn="l">
              <a:lnSpc>
                <a:spcPct val="90000"/>
              </a:lnSpc>
              <a:spcBef>
                <a:spcPts val="500"/>
              </a:spcBef>
              <a:spcAft>
                <a:spcPts val="0"/>
              </a:spcAft>
              <a:buClr>
                <a:srgbClr val="909297"/>
              </a:buClr>
              <a:buSzPts val="1600"/>
              <a:buNone/>
              <a:defRPr sz="1600">
                <a:solidFill>
                  <a:srgbClr val="909297"/>
                </a:solidFill>
              </a:defRPr>
            </a:lvl7pPr>
            <a:lvl8pPr marL="3657600" lvl="7" indent="-228600" algn="l">
              <a:lnSpc>
                <a:spcPct val="90000"/>
              </a:lnSpc>
              <a:spcBef>
                <a:spcPts val="500"/>
              </a:spcBef>
              <a:spcAft>
                <a:spcPts val="0"/>
              </a:spcAft>
              <a:buClr>
                <a:srgbClr val="909297"/>
              </a:buClr>
              <a:buSzPts val="1600"/>
              <a:buNone/>
              <a:defRPr sz="1600">
                <a:solidFill>
                  <a:srgbClr val="909297"/>
                </a:solidFill>
              </a:defRPr>
            </a:lvl8pPr>
            <a:lvl9pPr marL="4114800" lvl="8" indent="-228600" algn="l">
              <a:lnSpc>
                <a:spcPct val="90000"/>
              </a:lnSpc>
              <a:spcBef>
                <a:spcPts val="500"/>
              </a:spcBef>
              <a:spcAft>
                <a:spcPts val="0"/>
              </a:spcAft>
              <a:buClr>
                <a:srgbClr val="909297"/>
              </a:buClr>
              <a:buSzPts val="1600"/>
              <a:buNone/>
              <a:defRPr sz="1600">
                <a:solidFill>
                  <a:srgbClr val="909297"/>
                </a:solidFill>
              </a:defRPr>
            </a:lvl9pPr>
          </a:lstStyle>
          <a:p>
            <a:endParaRPr/>
          </a:p>
        </p:txBody>
      </p:sp>
      <p:sp>
        <p:nvSpPr>
          <p:cNvPr id="93" name="Google Shape;93;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20"/>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6"/>
        <p:cNvGrpSpPr/>
        <p:nvPr/>
      </p:nvGrpSpPr>
      <p:grpSpPr>
        <a:xfrm>
          <a:off x="0" y="0"/>
          <a:ext cx="0" cy="0"/>
          <a:chOff x="0" y="0"/>
          <a:chExt cx="0" cy="0"/>
        </a:xfrm>
      </p:grpSpPr>
      <p:sp>
        <p:nvSpPr>
          <p:cNvPr id="97" name="Google Shape;97;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9" name="Google Shape;99;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01" name="Google Shape;101;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2" name="Google Shape;10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3" name="Google Shape;10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4" name="Google Shape;104;p21"/>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5"/>
        <p:cNvGrpSpPr/>
        <p:nvPr/>
      </p:nvGrpSpPr>
      <p:grpSpPr>
        <a:xfrm>
          <a:off x="0" y="0"/>
          <a:ext cx="0" cy="0"/>
          <a:chOff x="0" y="0"/>
          <a:chExt cx="0" cy="0"/>
        </a:xfrm>
      </p:grpSpPr>
      <p:sp>
        <p:nvSpPr>
          <p:cNvPr id="106" name="Google Shape;106;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08" name="Google Shape;108;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9" name="Google Shape;10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22"/>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23"/>
          <p:cNvSpPr>
            <a:spLocks noGrp="1"/>
          </p:cNvSpPr>
          <p:nvPr>
            <p:ph type="pic" idx="2"/>
          </p:nvPr>
        </p:nvSpPr>
        <p:spPr>
          <a:xfrm>
            <a:off x="5183188" y="987425"/>
            <a:ext cx="6172200" cy="4873625"/>
          </a:xfrm>
          <a:prstGeom prst="rect">
            <a:avLst/>
          </a:prstGeom>
          <a:noFill/>
          <a:ln>
            <a:noFill/>
          </a:ln>
        </p:spPr>
      </p:sp>
      <p:sp>
        <p:nvSpPr>
          <p:cNvPr id="115" name="Google Shape;115;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6" name="Google Shape;11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7" name="Google Shape;11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23"/>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4" name="Google Shape;124;p24"/>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5"/>
        <p:cNvGrpSpPr/>
        <p:nvPr/>
      </p:nvGrpSpPr>
      <p:grpSpPr>
        <a:xfrm>
          <a:off x="0" y="0"/>
          <a:ext cx="0" cy="0"/>
          <a:chOff x="0" y="0"/>
          <a:chExt cx="0" cy="0"/>
        </a:xfrm>
      </p:grpSpPr>
      <p:sp>
        <p:nvSpPr>
          <p:cNvPr id="126" name="Google Shape;126;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29" name="Google Shape;129;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0" name="Google Shape;130;p25"/>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g21194ee596e_0_10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g21194ee596e_0_10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g21194ee596e_0_108"/>
          <p:cNvSpPr txBox="1">
            <a:spLocks noGrp="1"/>
          </p:cNvSpPr>
          <p:nvPr>
            <p:ph type="sldNum" idx="12"/>
          </p:nvPr>
        </p:nvSpPr>
        <p:spPr>
          <a:xfrm>
            <a:off x="483228" y="6356350"/>
            <a:ext cx="709800" cy="3651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 id="214748365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4" name="Google Shape;74;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7"/>
          <p:cNvSpPr txBox="1">
            <a:spLocks noGrp="1"/>
          </p:cNvSpPr>
          <p:nvPr>
            <p:ph type="sldNum" idx="12"/>
          </p:nvPr>
        </p:nvSpPr>
        <p:spPr>
          <a:xfrm>
            <a:off x="483228" y="6356350"/>
            <a:ext cx="709943"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1pPr>
            <a:lvl2pPr marL="0" marR="0" lvl="1"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2pPr>
            <a:lvl3pPr marL="0" marR="0" lvl="2"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3pPr>
            <a:lvl4pPr marL="0" marR="0" lvl="3"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4pPr>
            <a:lvl5pPr marL="0" marR="0" lvl="4"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5pPr>
            <a:lvl6pPr marL="0" marR="0" lvl="5"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6pPr>
            <a:lvl7pPr marL="0" marR="0" lvl="6"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7pPr>
            <a:lvl8pPr marL="0" marR="0" lvl="7"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8pPr>
            <a:lvl9pPr marL="0" marR="0" lvl="8" indent="0" algn="l" rtl="0">
              <a:lnSpc>
                <a:spcPct val="100000"/>
              </a:lnSpc>
              <a:spcBef>
                <a:spcPts val="0"/>
              </a:spcBef>
              <a:spcAft>
                <a:spcPts val="0"/>
              </a:spcAft>
              <a:buClr>
                <a:srgbClr val="909297"/>
              </a:buClr>
              <a:buSzPts val="1200"/>
              <a:buFont typeface="Arial"/>
              <a:buNone/>
              <a:defRPr sz="1200" b="0" i="0" u="none" strike="noStrike" cap="none">
                <a:solidFill>
                  <a:srgbClr val="909297"/>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g21194ee596e_0_101"/>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37" name="Google Shape;137;g21194ee596e_0_101"/>
          <p:cNvSpPr txBox="1">
            <a:spLocks noGrp="1"/>
          </p:cNvSpPr>
          <p:nvPr>
            <p:ph type="sldNum" idx="12"/>
          </p:nvPr>
        </p:nvSpPr>
        <p:spPr>
          <a:xfrm>
            <a:off x="345621" y="6298505"/>
            <a:ext cx="205920" cy="153888"/>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1000" b="0" i="0" u="none" strike="noStrike" cap="none">
                <a:solidFill>
                  <a:srgbClr val="FFFFFF"/>
                </a:solidFill>
                <a:latin typeface="Poppins"/>
                <a:ea typeface="Poppins"/>
                <a:cs typeface="Poppins"/>
                <a:sym typeface="Poppins"/>
              </a:rPr>
              <a:t>1</a:t>
            </a:fld>
            <a:endParaRPr sz="1000" b="0" i="0" u="none" strike="noStrike" cap="none" dirty="0">
              <a:solidFill>
                <a:srgbClr val="FFFFFF"/>
              </a:solidFill>
              <a:latin typeface="Poppins"/>
              <a:ea typeface="Poppins"/>
              <a:cs typeface="Poppins"/>
              <a:sym typeface="Poppins"/>
            </a:endParaRPr>
          </a:p>
        </p:txBody>
      </p:sp>
      <p:pic>
        <p:nvPicPr>
          <p:cNvPr id="138" name="Google Shape;138;g21194ee596e_0_101"/>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9" name="Google Shape;150;p2">
            <a:extLst>
              <a:ext uri="{FF2B5EF4-FFF2-40B4-BE49-F238E27FC236}">
                <a16:creationId xmlns:a16="http://schemas.microsoft.com/office/drawing/2014/main" id="{40BD8553-C511-48CB-B7F9-1E8391B2243C}"/>
              </a:ext>
            </a:extLst>
          </p:cNvPr>
          <p:cNvSpPr/>
          <p:nvPr/>
        </p:nvSpPr>
        <p:spPr>
          <a:xfrm rot="10800000" flipH="1">
            <a:off x="331420" y="6279078"/>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4" name="TextBox 3">
            <a:extLst>
              <a:ext uri="{FF2B5EF4-FFF2-40B4-BE49-F238E27FC236}">
                <a16:creationId xmlns:a16="http://schemas.microsoft.com/office/drawing/2014/main" id="{4A525028-882F-4D16-86C1-48C73316857C}"/>
              </a:ext>
            </a:extLst>
          </p:cNvPr>
          <p:cNvSpPr txBox="1"/>
          <p:nvPr/>
        </p:nvSpPr>
        <p:spPr>
          <a:xfrm>
            <a:off x="305870" y="6248440"/>
            <a:ext cx="205920" cy="307777"/>
          </a:xfrm>
          <a:prstGeom prst="rect">
            <a:avLst/>
          </a:prstGeom>
          <a:noFill/>
        </p:spPr>
        <p:txBody>
          <a:bodyPr wrap="square" rtlCol="0">
            <a:spAutoFit/>
          </a:bodyPr>
          <a:lstStyle/>
          <a:p>
            <a:r>
              <a:rPr lang="en-IN" dirty="0">
                <a:solidFill>
                  <a:schemeClr val="bg1"/>
                </a:solidFill>
              </a:rPr>
              <a:t>1</a:t>
            </a:r>
          </a:p>
        </p:txBody>
      </p:sp>
      <p:pic>
        <p:nvPicPr>
          <p:cNvPr id="6" name="Picture 5">
            <a:extLst>
              <a:ext uri="{FF2B5EF4-FFF2-40B4-BE49-F238E27FC236}">
                <a16:creationId xmlns:a16="http://schemas.microsoft.com/office/drawing/2014/main" id="{9E9595FA-880A-4BCF-A0F5-636DD495578B}"/>
              </a:ext>
            </a:extLst>
          </p:cNvPr>
          <p:cNvPicPr>
            <a:picLocks noChangeAspect="1"/>
          </p:cNvPicPr>
          <p:nvPr/>
        </p:nvPicPr>
        <p:blipFill>
          <a:blip r:embed="rId4">
            <a:alphaModFix amt="90000"/>
          </a:blip>
          <a:srcRect/>
          <a:stretch/>
        </p:blipFill>
        <p:spPr>
          <a:xfrm>
            <a:off x="-88360" y="1"/>
            <a:ext cx="12280360" cy="6857999"/>
          </a:xfrm>
          <a:prstGeom prst="rect">
            <a:avLst/>
          </a:prstGeom>
        </p:spPr>
      </p:pic>
      <p:sp>
        <p:nvSpPr>
          <p:cNvPr id="7" name="TextBox 6">
            <a:extLst>
              <a:ext uri="{FF2B5EF4-FFF2-40B4-BE49-F238E27FC236}">
                <a16:creationId xmlns:a16="http://schemas.microsoft.com/office/drawing/2014/main" id="{B7CA4B9B-2858-4A36-B12E-2F96EC08DC32}"/>
              </a:ext>
            </a:extLst>
          </p:cNvPr>
          <p:cNvSpPr txBox="1"/>
          <p:nvPr/>
        </p:nvSpPr>
        <p:spPr>
          <a:xfrm>
            <a:off x="3596640" y="1972718"/>
            <a:ext cx="5379720" cy="1754326"/>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IN" sz="5400" b="1" dirty="0">
                <a:solidFill>
                  <a:schemeClr val="bg1"/>
                </a:solidFill>
                <a:latin typeface="Poppins" panose="020B0604020202020204" charset="0"/>
                <a:cs typeface="Poppins" panose="020B0604020202020204" charset="0"/>
              </a:rPr>
              <a:t>Regional Sales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
          <p:cNvSpPr/>
          <p:nvPr/>
        </p:nvSpPr>
        <p:spPr>
          <a:xfrm>
            <a:off x="0" y="-15671"/>
            <a:ext cx="12192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47" name="Google Shape;147;p2"/>
          <p:cNvSpPr txBox="1">
            <a:spLocks noGrp="1"/>
          </p:cNvSpPr>
          <p:nvPr>
            <p:ph type="title"/>
          </p:nvPr>
        </p:nvSpPr>
        <p:spPr>
          <a:xfrm>
            <a:off x="463044" y="421813"/>
            <a:ext cx="4188278" cy="492443"/>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US" sz="3200" dirty="0">
                <a:solidFill>
                  <a:schemeClr val="lt1"/>
                </a:solidFill>
              </a:rPr>
              <a:t>Agenda</a:t>
            </a:r>
            <a:endParaRPr sz="3200" dirty="0">
              <a:solidFill>
                <a:schemeClr val="lt1"/>
              </a:solidFill>
            </a:endParaRPr>
          </a:p>
        </p:txBody>
      </p:sp>
      <p:sp>
        <p:nvSpPr>
          <p:cNvPr id="148" name="Google Shape;148;p2"/>
          <p:cNvSpPr txBox="1"/>
          <p:nvPr/>
        </p:nvSpPr>
        <p:spPr>
          <a:xfrm>
            <a:off x="587693" y="1351740"/>
            <a:ext cx="7164600" cy="3693319"/>
          </a:xfrm>
          <a:prstGeom prst="rect">
            <a:avLst/>
          </a:prstGeom>
          <a:noFill/>
          <a:ln>
            <a:noFill/>
          </a:ln>
        </p:spPr>
        <p:txBody>
          <a:bodyPr spcFirstLastPara="1" wrap="square" lIns="0" tIns="0" rIns="0" bIns="0" anchor="t" anchorCtr="0">
            <a:spAutoFit/>
          </a:bodyPr>
          <a:lstStyle/>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IN" sz="2000" dirty="0">
                <a:solidFill>
                  <a:schemeClr val="bg1"/>
                </a:solidFill>
                <a:effectLst/>
                <a:latin typeface="Poppins" panose="020B0604020202020204" charset="0"/>
                <a:cs typeface="Poppins" panose="020B0604020202020204" charset="0"/>
              </a:rPr>
              <a:t>Problem Statement</a:t>
            </a:r>
            <a:endParaRPr sz="2000"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panose="020B0604020202020204" charset="0"/>
                <a:ea typeface="Poppins"/>
                <a:cs typeface="Poppins" panose="020B0604020202020204" charset="0"/>
                <a:sym typeface="Poppins"/>
              </a:rPr>
              <a:t>Approach</a:t>
            </a:r>
            <a:endParaRPr sz="2000" i="0" u="none" strike="noStrike" cap="none" dirty="0">
              <a:solidFill>
                <a:schemeClr val="bg1"/>
              </a:solidFill>
              <a:latin typeface="Poppins" panose="020B0604020202020204" charset="0"/>
              <a:ea typeface="Poppins"/>
              <a:cs typeface="Poppins" panose="020B0604020202020204" charset="0"/>
              <a:sym typeface="Poppins"/>
            </a:endParaRPr>
          </a:p>
          <a:p>
            <a:pPr marL="342900" marR="0" lvl="0" indent="-342900" algn="l" rtl="0">
              <a:lnSpc>
                <a:spcPct val="100000"/>
              </a:lnSpc>
              <a:spcBef>
                <a:spcPts val="1200"/>
              </a:spcBef>
              <a:spcAft>
                <a:spcPts val="0"/>
              </a:spcAft>
              <a:buClr>
                <a:schemeClr val="lt1"/>
              </a:buClr>
              <a:buSzPct val="950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Data Overview</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rgbClr val="FFFFFF"/>
              </a:buClr>
              <a:buSzPts val="1800"/>
              <a:buFont typeface="Arial" panose="020B0604020202020204" pitchFamily="34" charset="0"/>
              <a:buChar char="•"/>
            </a:pPr>
            <a:r>
              <a:rPr lang="en-US" sz="2000" dirty="0">
                <a:solidFill>
                  <a:schemeClr val="bg1"/>
                </a:solidFill>
                <a:latin typeface="Poppins"/>
                <a:ea typeface="Poppins"/>
                <a:cs typeface="Poppins"/>
                <a:sym typeface="Poppins"/>
              </a:rPr>
              <a:t>Project Workflow</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Exploratory Data Analysis</a:t>
            </a:r>
            <a:endParaRPr sz="2000" i="0" u="none" strike="noStrike" cap="none"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Key Insights </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dirty="0">
                <a:solidFill>
                  <a:schemeClr val="bg1"/>
                </a:solidFill>
                <a:latin typeface="Poppins"/>
                <a:ea typeface="Poppins"/>
                <a:cs typeface="Poppins"/>
                <a:sym typeface="Poppins"/>
              </a:rPr>
              <a:t>Recommendation</a:t>
            </a:r>
            <a:endParaRPr sz="2000" dirty="0">
              <a:solidFill>
                <a:schemeClr val="bg1"/>
              </a:solidFill>
              <a:latin typeface="Poppins"/>
              <a:ea typeface="Poppins"/>
              <a:cs typeface="Poppins"/>
              <a:sym typeface="Poppins"/>
            </a:endParaRPr>
          </a:p>
          <a:p>
            <a:pPr marL="342900" marR="0" lvl="0" indent="-342900" algn="l" rtl="0">
              <a:lnSpc>
                <a:spcPct val="100000"/>
              </a:lnSpc>
              <a:spcBef>
                <a:spcPts val="1200"/>
              </a:spcBef>
              <a:spcAft>
                <a:spcPts val="0"/>
              </a:spcAft>
              <a:buClr>
                <a:schemeClr val="lt1"/>
              </a:buClr>
              <a:buSzPts val="1800"/>
              <a:buFont typeface="Arial" panose="020B0604020202020204" pitchFamily="34" charset="0"/>
              <a:buChar char="•"/>
            </a:pPr>
            <a:r>
              <a:rPr lang="en-US" sz="2000" i="0" u="none" strike="noStrike" cap="none" dirty="0">
                <a:solidFill>
                  <a:schemeClr val="bg1"/>
                </a:solidFill>
                <a:latin typeface="Poppins"/>
                <a:ea typeface="Poppins"/>
                <a:cs typeface="Poppins"/>
                <a:sym typeface="Poppins"/>
              </a:rPr>
              <a:t>Dashboard Preview</a:t>
            </a:r>
            <a:endParaRPr sz="2000" i="0" u="none" strike="noStrike" cap="none" dirty="0">
              <a:solidFill>
                <a:srgbClr val="FFFFFF"/>
              </a:solidFill>
              <a:latin typeface="Poppins"/>
              <a:ea typeface="Poppins"/>
              <a:cs typeface="Poppins"/>
              <a:sym typeface="Poppins"/>
            </a:endParaRPr>
          </a:p>
        </p:txBody>
      </p:sp>
      <p:pic>
        <p:nvPicPr>
          <p:cNvPr id="149" name="Google Shape;149;p2"/>
          <p:cNvPicPr preferRelativeResize="0"/>
          <p:nvPr/>
        </p:nvPicPr>
        <p:blipFill rotWithShape="1">
          <a:blip r:embed="rId3">
            <a:alphaModFix/>
          </a:blip>
          <a:srcRect/>
          <a:stretch/>
        </p:blipFill>
        <p:spPr>
          <a:xfrm>
            <a:off x="8174194" y="2337236"/>
            <a:ext cx="3672184" cy="3672184"/>
          </a:xfrm>
          <a:prstGeom prst="rect">
            <a:avLst/>
          </a:prstGeom>
          <a:noFill/>
          <a:ln>
            <a:noFill/>
          </a:ln>
        </p:spPr>
      </p:pic>
      <p:sp>
        <p:nvSpPr>
          <p:cNvPr id="150" name="Google Shape;150;p2"/>
          <p:cNvSpPr/>
          <p:nvPr/>
        </p:nvSpPr>
        <p:spPr>
          <a:xfrm rot="10800000" flipH="1">
            <a:off x="338396" y="6282907"/>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1" name="Google Shape;151;p2"/>
          <p:cNvSpPr txBox="1">
            <a:spLocks noGrp="1"/>
          </p:cNvSpPr>
          <p:nvPr>
            <p:ph type="sldNum" idx="12"/>
          </p:nvPr>
        </p:nvSpPr>
        <p:spPr>
          <a:xfrm>
            <a:off x="382894" y="6338271"/>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a:t>
            </a:fld>
            <a:endParaRPr sz="900" b="0" i="0" u="none" strike="noStrike" cap="none" dirty="0">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Problem Statement</a:t>
            </a:r>
            <a:endParaRPr sz="28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69" name="Google Shape;169;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pic>
        <p:nvPicPr>
          <p:cNvPr id="170" name="Google Shape;170;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1" name="Google Shape;171;g21194ee596e_0_174"/>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173" name="Google Shape;173;g21194ee596e_0_17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4</a:t>
            </a:fld>
            <a:endParaRPr sz="900" b="0" i="0" u="none" strike="noStrike" cap="none">
              <a:solidFill>
                <a:srgbClr val="FFFFFF"/>
              </a:solidFill>
              <a:latin typeface="Poppins"/>
              <a:ea typeface="Poppins"/>
              <a:cs typeface="Poppins"/>
              <a:sym typeface="Poppins"/>
            </a:endParaRPr>
          </a:p>
        </p:txBody>
      </p:sp>
      <p:pic>
        <p:nvPicPr>
          <p:cNvPr id="174" name="Google Shape;174;g21194ee596e_0_174"/>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175" name="Google Shape;175;g21194ee596e_0_174"/>
          <p:cNvSpPr txBox="1"/>
          <p:nvPr/>
        </p:nvSpPr>
        <p:spPr>
          <a:xfrm>
            <a:off x="718370" y="4046180"/>
            <a:ext cx="10305230" cy="1846659"/>
          </a:xfrm>
          <a:prstGeom prst="rect">
            <a:avLst/>
          </a:prstGeom>
          <a:noFill/>
          <a:ln>
            <a:noFill/>
          </a:ln>
        </p:spPr>
        <p:txBody>
          <a:bodyPr spcFirstLastPara="1" wrap="square" lIns="0" tIns="0" rIns="0" bIns="0" anchor="t" anchorCtr="0">
            <a:spAutoFit/>
          </a:bodyPr>
          <a:lstStyle/>
          <a:p>
            <a:pPr marL="139700" marR="0" lvl="0" algn="l" rtl="0">
              <a:lnSpc>
                <a:spcPct val="150000"/>
              </a:lnSpc>
              <a:spcBef>
                <a:spcPts val="0"/>
              </a:spcBef>
              <a:spcAft>
                <a:spcPts val="0"/>
              </a:spcAft>
              <a:buClr>
                <a:schemeClr val="dk1"/>
              </a:buClr>
              <a:buSzPts val="1400"/>
            </a:pPr>
            <a:r>
              <a:rPr lang="en-GB" sz="1600" dirty="0">
                <a:effectLst/>
                <a:latin typeface="Poppins" panose="020B0604020202020204" charset="0"/>
                <a:cs typeface="Poppins" panose="020B0604020202020204" charset="0"/>
              </a:rPr>
              <a:t>Inconsistent revenue and profit performance across U.S. regions</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Lack of visibility into seasonal swings, top SKUs, and channel profitability</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Goal: Leverage 5 years of historical data to pinpoint growth levers and optimize strategy</a:t>
            </a:r>
            <a:endParaRPr sz="1600" b="0" i="0" u="none" strike="noStrike" cap="none" dirty="0">
              <a:solidFill>
                <a:srgbClr val="4D5156"/>
              </a:solidFill>
              <a:highlight>
                <a:srgbClr val="FFFFFF"/>
              </a:highlight>
              <a:latin typeface="Poppins" panose="020B0604020202020204" charset="0"/>
              <a:ea typeface="Poppins"/>
              <a:cs typeface="Poppins" panose="020B0604020202020204" charset="0"/>
              <a:sym typeface="Poppins"/>
            </a:endParaRPr>
          </a:p>
        </p:txBody>
      </p:sp>
      <p:sp>
        <p:nvSpPr>
          <p:cNvPr id="11" name="Google Shape;172;g21194ee596e_0_174">
            <a:extLst>
              <a:ext uri="{FF2B5EF4-FFF2-40B4-BE49-F238E27FC236}">
                <a16:creationId xmlns:a16="http://schemas.microsoft.com/office/drawing/2014/main" id="{8C5D04DA-9493-4639-B51F-7B0D3CD03EE2}"/>
              </a:ext>
            </a:extLst>
          </p:cNvPr>
          <p:cNvSpPr txBox="1">
            <a:spLocks/>
          </p:cNvSpPr>
          <p:nvPr/>
        </p:nvSpPr>
        <p:spPr>
          <a:xfrm>
            <a:off x="802640" y="3446518"/>
            <a:ext cx="5152540" cy="3693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400" b="0" dirty="0">
                <a:effectLst/>
              </a:rPr>
              <a:t>What’s the Business Question?</a:t>
            </a:r>
            <a:endParaRPr lang="en-IN" sz="2400" b="0" dirty="0"/>
          </a:p>
        </p:txBody>
      </p:sp>
      <p:sp>
        <p:nvSpPr>
          <p:cNvPr id="2" name="Oval 1">
            <a:extLst>
              <a:ext uri="{FF2B5EF4-FFF2-40B4-BE49-F238E27FC236}">
                <a16:creationId xmlns:a16="http://schemas.microsoft.com/office/drawing/2014/main" id="{01E11A21-3B16-475C-9D2F-A65D1BA6D1EB}"/>
              </a:ext>
            </a:extLst>
          </p:cNvPr>
          <p:cNvSpPr/>
          <p:nvPr/>
        </p:nvSpPr>
        <p:spPr>
          <a:xfrm>
            <a:off x="531977" y="417364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55BC3889-2C67-4B20-B29F-006138D2D1DB}"/>
              </a:ext>
            </a:extLst>
          </p:cNvPr>
          <p:cNvSpPr/>
          <p:nvPr/>
        </p:nvSpPr>
        <p:spPr>
          <a:xfrm>
            <a:off x="520859" y="490389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9B577B2B-77F8-416B-AA83-405D34D1834E}"/>
              </a:ext>
            </a:extLst>
          </p:cNvPr>
          <p:cNvSpPr/>
          <p:nvPr/>
        </p:nvSpPr>
        <p:spPr>
          <a:xfrm>
            <a:off x="531977" y="563414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512B818-0481-4D4B-A218-CFCC6EAC3762}"/>
              </a:ext>
            </a:extLst>
          </p:cNvPr>
          <p:cNvSpPr txBox="1"/>
          <p:nvPr/>
        </p:nvSpPr>
        <p:spPr>
          <a:xfrm>
            <a:off x="709780" y="1631126"/>
            <a:ext cx="10119360" cy="1200329"/>
          </a:xfrm>
          <a:prstGeom prst="rect">
            <a:avLst/>
          </a:prstGeom>
          <a:noFill/>
        </p:spPr>
        <p:txBody>
          <a:bodyPr wrap="square" rtlCol="0">
            <a:spAutoFit/>
          </a:bodyPr>
          <a:lstStyle/>
          <a:p>
            <a:r>
              <a:rPr lang="en-GB" sz="1800" dirty="0">
                <a:solidFill>
                  <a:schemeClr val="tx1">
                    <a:lumMod val="65000"/>
                    <a:lumOff val="35000"/>
                  </a:schemeClr>
                </a:solidFill>
                <a:latin typeface="Poppins" panose="020B0604020202020204" charset="0"/>
                <a:cs typeface="Poppins" panose="020B0604020202020204" charset="0"/>
              </a:rPr>
              <a:t>Sales teams often lack a clear, data-driven understanding of regional performance, making it difficult to identify growth opportunities and optimize resources. This project aims to analyse and visualize regional sales data to uncover trends, evaluate profitability, and support strategic decision-making.</a:t>
            </a:r>
            <a:endParaRPr lang="en-IN" sz="1800" dirty="0">
              <a:solidFill>
                <a:schemeClr val="tx1">
                  <a:lumMod val="65000"/>
                  <a:lumOff val="35000"/>
                </a:schemeClr>
              </a:solidFill>
              <a:latin typeface="Poppins" panose="020B0604020202020204" charset="0"/>
              <a:cs typeface="Poppins" panose="020B0604020202020204" charset="0"/>
            </a:endParaRPr>
          </a:p>
        </p:txBody>
      </p:sp>
      <p:sp>
        <p:nvSpPr>
          <p:cNvPr id="15" name="Google Shape;147;p2">
            <a:extLst>
              <a:ext uri="{FF2B5EF4-FFF2-40B4-BE49-F238E27FC236}">
                <a16:creationId xmlns:a16="http://schemas.microsoft.com/office/drawing/2014/main" id="{2BCC2704-FC24-43ED-A750-E2F92EF60F12}"/>
              </a:ext>
            </a:extLst>
          </p:cNvPr>
          <p:cNvSpPr txBox="1">
            <a:spLocks/>
          </p:cNvSpPr>
          <p:nvPr/>
        </p:nvSpPr>
        <p:spPr>
          <a:xfrm>
            <a:off x="463044" y="421813"/>
            <a:ext cx="4188278"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Problem Statement</a:t>
            </a:r>
            <a:endParaRPr lang="en-US" sz="3200" dirty="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5</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oppins"/>
                <a:ea typeface="Poppins"/>
                <a:cs typeface="Poppins"/>
                <a:sym typeface="Poppins"/>
              </a:rPr>
              <a:t>Approach</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98606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6</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Rounded Corners 1">
            <a:extLst>
              <a:ext uri="{FF2B5EF4-FFF2-40B4-BE49-F238E27FC236}">
                <a16:creationId xmlns:a16="http://schemas.microsoft.com/office/drawing/2014/main" id="{EF786390-49C8-49E0-B426-C5157FAF1300}"/>
              </a:ext>
            </a:extLst>
          </p:cNvPr>
          <p:cNvSpPr/>
          <p:nvPr/>
        </p:nvSpPr>
        <p:spPr>
          <a:xfrm>
            <a:off x="817123"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oppins" panose="020B0604020202020204" charset="0"/>
                <a:cs typeface="Poppins" panose="020B0604020202020204" charset="0"/>
              </a:rPr>
              <a:t>Exploratory Data Analysis</a:t>
            </a:r>
          </a:p>
        </p:txBody>
      </p:sp>
      <p:sp>
        <p:nvSpPr>
          <p:cNvPr id="3" name="Oval 2">
            <a:extLst>
              <a:ext uri="{FF2B5EF4-FFF2-40B4-BE49-F238E27FC236}">
                <a16:creationId xmlns:a16="http://schemas.microsoft.com/office/drawing/2014/main" id="{061337D1-284D-48C4-8361-208DB620B30E}"/>
              </a:ext>
            </a:extLst>
          </p:cNvPr>
          <p:cNvSpPr/>
          <p:nvPr/>
        </p:nvSpPr>
        <p:spPr>
          <a:xfrm>
            <a:off x="982494"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1</a:t>
            </a:r>
          </a:p>
        </p:txBody>
      </p:sp>
      <p:sp>
        <p:nvSpPr>
          <p:cNvPr id="16" name="Rectangle: Rounded Corners 15">
            <a:extLst>
              <a:ext uri="{FF2B5EF4-FFF2-40B4-BE49-F238E27FC236}">
                <a16:creationId xmlns:a16="http://schemas.microsoft.com/office/drawing/2014/main" id="{032B42CF-2183-4765-8239-53586F24A1FA}"/>
              </a:ext>
            </a:extLst>
          </p:cNvPr>
          <p:cNvSpPr/>
          <p:nvPr/>
        </p:nvSpPr>
        <p:spPr>
          <a:xfrm>
            <a:off x="6919609" y="1799617"/>
            <a:ext cx="4455268" cy="1887166"/>
          </a:xfrm>
          <a:prstGeom prst="roundRect">
            <a:avLst/>
          </a:prstGeom>
          <a:gradFill>
            <a:gsLst>
              <a:gs pos="0">
                <a:schemeClr val="accent1">
                  <a:lumMod val="5000"/>
                  <a:lumOff val="95000"/>
                </a:schemeClr>
              </a:gs>
              <a:gs pos="100000">
                <a:schemeClr val="accent1">
                  <a:lumMod val="30000"/>
                  <a:lumOff val="70000"/>
                  <a:alpha val="28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lumMod val="65000"/>
                    <a:lumOff val="35000"/>
                  </a:schemeClr>
                </a:solidFill>
                <a:latin typeface="Poppins" panose="020B0604020202020204" charset="0"/>
                <a:cs typeface="Poppins" panose="020B0604020202020204" charset="0"/>
              </a:rPr>
              <a:t>Interactive Dashboard</a:t>
            </a:r>
          </a:p>
        </p:txBody>
      </p:sp>
      <p:sp>
        <p:nvSpPr>
          <p:cNvPr id="17" name="Oval 16">
            <a:extLst>
              <a:ext uri="{FF2B5EF4-FFF2-40B4-BE49-F238E27FC236}">
                <a16:creationId xmlns:a16="http://schemas.microsoft.com/office/drawing/2014/main" id="{573F0CD4-A48D-4AF0-AC81-7C2EDD09BE8E}"/>
              </a:ext>
            </a:extLst>
          </p:cNvPr>
          <p:cNvSpPr/>
          <p:nvPr/>
        </p:nvSpPr>
        <p:spPr>
          <a:xfrm>
            <a:off x="7084980" y="1896894"/>
            <a:ext cx="330740" cy="3210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lumMod val="85000"/>
                    <a:lumOff val="15000"/>
                  </a:schemeClr>
                </a:solidFill>
              </a:rPr>
              <a:t>2</a:t>
            </a:r>
          </a:p>
        </p:txBody>
      </p:sp>
      <p:pic>
        <p:nvPicPr>
          <p:cNvPr id="6" name="Picture 5">
            <a:extLst>
              <a:ext uri="{FF2B5EF4-FFF2-40B4-BE49-F238E27FC236}">
                <a16:creationId xmlns:a16="http://schemas.microsoft.com/office/drawing/2014/main" id="{D2DC62CA-5400-4726-99B5-FBA6F814D20E}"/>
              </a:ext>
            </a:extLst>
          </p:cNvPr>
          <p:cNvPicPr>
            <a:picLocks noChangeAspect="1"/>
          </p:cNvPicPr>
          <p:nvPr/>
        </p:nvPicPr>
        <p:blipFill>
          <a:blip r:embed="rId4"/>
          <a:srcRect/>
          <a:stretch/>
        </p:blipFill>
        <p:spPr>
          <a:xfrm>
            <a:off x="5597105" y="2217906"/>
            <a:ext cx="826546" cy="826546"/>
          </a:xfrm>
          <a:prstGeom prst="rect">
            <a:avLst/>
          </a:prstGeom>
        </p:spPr>
      </p:pic>
      <p:sp>
        <p:nvSpPr>
          <p:cNvPr id="7" name="Arrow: Down 6">
            <a:extLst>
              <a:ext uri="{FF2B5EF4-FFF2-40B4-BE49-F238E27FC236}">
                <a16:creationId xmlns:a16="http://schemas.microsoft.com/office/drawing/2014/main" id="{B04D62CA-0D74-423A-8B8E-1D0931ACDA1B}"/>
              </a:ext>
            </a:extLst>
          </p:cNvPr>
          <p:cNvSpPr/>
          <p:nvPr/>
        </p:nvSpPr>
        <p:spPr>
          <a:xfrm>
            <a:off x="2587557"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Down 18">
            <a:extLst>
              <a:ext uri="{FF2B5EF4-FFF2-40B4-BE49-F238E27FC236}">
                <a16:creationId xmlns:a16="http://schemas.microsoft.com/office/drawing/2014/main" id="{81C2E06F-C69F-4CC8-81D6-46C8AE055B33}"/>
              </a:ext>
            </a:extLst>
          </p:cNvPr>
          <p:cNvSpPr/>
          <p:nvPr/>
        </p:nvSpPr>
        <p:spPr>
          <a:xfrm>
            <a:off x="8860278" y="3808755"/>
            <a:ext cx="496111" cy="879977"/>
          </a:xfrm>
          <a:prstGeom prst="downArrow">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767FD30-A16F-4190-90E2-E5D864B23DCA}"/>
              </a:ext>
            </a:extLst>
          </p:cNvPr>
          <p:cNvSpPr txBox="1"/>
          <p:nvPr/>
        </p:nvSpPr>
        <p:spPr>
          <a:xfrm>
            <a:off x="1527243" y="5077838"/>
            <a:ext cx="3745148" cy="584775"/>
          </a:xfrm>
          <a:prstGeom prst="rect">
            <a:avLst/>
          </a:prstGeom>
          <a:noFill/>
        </p:spPr>
        <p:txBody>
          <a:bodyPr wrap="square" rtlCol="0">
            <a:spAutoFit/>
          </a:bodyPr>
          <a:lstStyle/>
          <a:p>
            <a:r>
              <a:rPr lang="en-GB" sz="1600" dirty="0">
                <a:solidFill>
                  <a:schemeClr val="tx1">
                    <a:lumMod val="65000"/>
                    <a:lumOff val="35000"/>
                  </a:schemeClr>
                </a:solidFill>
                <a:latin typeface="Poppins" panose="020B0604020202020204" charset="0"/>
                <a:cs typeface="Poppins" panose="020B0604020202020204" charset="0"/>
              </a:rPr>
              <a:t>Dive into historical sales, margins, products, channels, regions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22" name="TextBox 21">
            <a:extLst>
              <a:ext uri="{FF2B5EF4-FFF2-40B4-BE49-F238E27FC236}">
                <a16:creationId xmlns:a16="http://schemas.microsoft.com/office/drawing/2014/main" id="{757D9954-2268-4CDE-BEC9-BD6EB7D4C508}"/>
              </a:ext>
            </a:extLst>
          </p:cNvPr>
          <p:cNvSpPr txBox="1"/>
          <p:nvPr/>
        </p:nvSpPr>
        <p:spPr>
          <a:xfrm>
            <a:off x="7217923" y="5077838"/>
            <a:ext cx="3745148" cy="584775"/>
          </a:xfrm>
          <a:prstGeom prst="rect">
            <a:avLst/>
          </a:prstGeom>
          <a:noFill/>
        </p:spPr>
        <p:txBody>
          <a:bodyPr wrap="square" rtlCol="0">
            <a:spAutoFit/>
          </a:bodyPr>
          <a:lstStyle/>
          <a:p>
            <a:r>
              <a:rPr lang="en-IN" sz="1600" dirty="0">
                <a:solidFill>
                  <a:schemeClr val="tx1">
                    <a:lumMod val="65000"/>
                    <a:lumOff val="35000"/>
                  </a:schemeClr>
                </a:solidFill>
                <a:latin typeface="Poppins" panose="020B0604020202020204" charset="0"/>
                <a:cs typeface="Poppins" panose="020B0604020202020204" charset="0"/>
              </a:rPr>
              <a:t>Build a live view for business Users to self serve insights </a:t>
            </a:r>
          </a:p>
        </p:txBody>
      </p:sp>
      <p:sp>
        <p:nvSpPr>
          <p:cNvPr id="23" name="TextBox 22">
            <a:extLst>
              <a:ext uri="{FF2B5EF4-FFF2-40B4-BE49-F238E27FC236}">
                <a16:creationId xmlns:a16="http://schemas.microsoft.com/office/drawing/2014/main" id="{75B3FF80-C907-4C20-93BB-629AEE984E90}"/>
              </a:ext>
            </a:extLst>
          </p:cNvPr>
          <p:cNvSpPr txBox="1"/>
          <p:nvPr/>
        </p:nvSpPr>
        <p:spPr>
          <a:xfrm>
            <a:off x="7217923" y="5790674"/>
            <a:ext cx="3745148" cy="584775"/>
          </a:xfrm>
          <a:prstGeom prst="rect">
            <a:avLst/>
          </a:prstGeom>
          <a:noFill/>
        </p:spPr>
        <p:txBody>
          <a:bodyPr wrap="square" rtlCol="0">
            <a:spAutoFit/>
          </a:bodyPr>
          <a:lstStyle/>
          <a:p>
            <a:r>
              <a:rPr lang="en-IN" sz="1600" dirty="0">
                <a:solidFill>
                  <a:schemeClr val="tx1">
                    <a:lumMod val="65000"/>
                    <a:lumOff val="35000"/>
                  </a:schemeClr>
                </a:solidFill>
                <a:latin typeface="Poppins" panose="020B0604020202020204" charset="0"/>
                <a:cs typeface="Poppins" panose="020B0604020202020204" charset="0"/>
              </a:rPr>
              <a:t>Enable ad-hoc slicing by time, product, region, channel</a:t>
            </a:r>
          </a:p>
        </p:txBody>
      </p:sp>
      <p:sp>
        <p:nvSpPr>
          <p:cNvPr id="30" name="TextBox 29">
            <a:extLst>
              <a:ext uri="{FF2B5EF4-FFF2-40B4-BE49-F238E27FC236}">
                <a16:creationId xmlns:a16="http://schemas.microsoft.com/office/drawing/2014/main" id="{F5524C7F-A5F0-4504-9D64-B4D4EEE5B159}"/>
              </a:ext>
            </a:extLst>
          </p:cNvPr>
          <p:cNvSpPr txBox="1"/>
          <p:nvPr/>
        </p:nvSpPr>
        <p:spPr>
          <a:xfrm>
            <a:off x="1527243" y="5790674"/>
            <a:ext cx="3745148" cy="584775"/>
          </a:xfrm>
          <a:prstGeom prst="rect">
            <a:avLst/>
          </a:prstGeom>
          <a:noFill/>
        </p:spPr>
        <p:txBody>
          <a:bodyPr wrap="square" rtlCol="0">
            <a:spAutoFit/>
          </a:bodyPr>
          <a:lstStyle/>
          <a:p>
            <a:r>
              <a:rPr lang="en-GB" sz="1600" dirty="0">
                <a:solidFill>
                  <a:schemeClr val="tx1">
                    <a:lumMod val="65000"/>
                    <a:lumOff val="35000"/>
                  </a:schemeClr>
                </a:solidFill>
                <a:latin typeface="Poppins" panose="020B0604020202020204" charset="0"/>
                <a:cs typeface="Poppins" panose="020B0604020202020204" charset="0"/>
              </a:rPr>
              <a:t>Surface trend, outliers &amp; relationships</a:t>
            </a:r>
            <a:endParaRPr lang="en-IN" sz="1600" dirty="0">
              <a:solidFill>
                <a:schemeClr val="tx1">
                  <a:lumMod val="65000"/>
                  <a:lumOff val="35000"/>
                </a:schemeClr>
              </a:solidFill>
              <a:latin typeface="Poppins" panose="020B0604020202020204" charset="0"/>
              <a:cs typeface="Poppins" panose="020B0604020202020204" charset="0"/>
            </a:endParaRPr>
          </a:p>
        </p:txBody>
      </p:sp>
      <p:sp>
        <p:nvSpPr>
          <p:cNvPr id="31" name="Oval 30">
            <a:extLst>
              <a:ext uri="{FF2B5EF4-FFF2-40B4-BE49-F238E27FC236}">
                <a16:creationId xmlns:a16="http://schemas.microsoft.com/office/drawing/2014/main" id="{2CFBD04C-D308-49D3-A942-AE5485CA5565}"/>
              </a:ext>
            </a:extLst>
          </p:cNvPr>
          <p:cNvSpPr/>
          <p:nvPr/>
        </p:nvSpPr>
        <p:spPr>
          <a:xfrm>
            <a:off x="1313234" y="5185820"/>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1CED950A-B354-4091-B9D5-11788B58C8A9}"/>
              </a:ext>
            </a:extLst>
          </p:cNvPr>
          <p:cNvSpPr/>
          <p:nvPr/>
        </p:nvSpPr>
        <p:spPr>
          <a:xfrm>
            <a:off x="1313234" y="5873242"/>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95B87BB1-CDC3-4813-831F-CEF786CD3A56}"/>
              </a:ext>
            </a:extLst>
          </p:cNvPr>
          <p:cNvSpPr/>
          <p:nvPr/>
        </p:nvSpPr>
        <p:spPr>
          <a:xfrm>
            <a:off x="7004880" y="5185819"/>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C744AD04-BDD3-4E9F-9B41-BC3CAFE7F84B}"/>
              </a:ext>
            </a:extLst>
          </p:cNvPr>
          <p:cNvSpPr/>
          <p:nvPr/>
        </p:nvSpPr>
        <p:spPr>
          <a:xfrm>
            <a:off x="7004880" y="5873241"/>
            <a:ext cx="160200" cy="138599"/>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Google Shape;147;p2">
            <a:extLst>
              <a:ext uri="{FF2B5EF4-FFF2-40B4-BE49-F238E27FC236}">
                <a16:creationId xmlns:a16="http://schemas.microsoft.com/office/drawing/2014/main" id="{E2C9632B-DA41-4294-8BC1-3C70617AD806}"/>
              </a:ext>
            </a:extLst>
          </p:cNvPr>
          <p:cNvSpPr txBox="1">
            <a:spLocks/>
          </p:cNvSpPr>
          <p:nvPr/>
        </p:nvSpPr>
        <p:spPr>
          <a:xfrm>
            <a:off x="463043" y="421813"/>
            <a:ext cx="7928481"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effectLst/>
              </a:rPr>
              <a:t>Approach – Two phase solution</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593690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7</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5057400"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dirty="0">
                <a:solidFill>
                  <a:srgbClr val="FFFFFF"/>
                </a:solidFill>
                <a:latin typeface="Poppins"/>
                <a:ea typeface="Poppins"/>
                <a:cs typeface="Poppins"/>
                <a:sym typeface="Poppins"/>
              </a:rPr>
              <a:t>Project Workflow</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49819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8</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id="{DF224B0A-B7DA-4658-84D8-77EAAAA36721}"/>
              </a:ext>
            </a:extLst>
          </p:cNvPr>
          <p:cNvGrpSpPr/>
          <p:nvPr/>
        </p:nvGrpSpPr>
        <p:grpSpPr>
          <a:xfrm>
            <a:off x="722279" y="1736386"/>
            <a:ext cx="515566" cy="496110"/>
            <a:chOff x="1342417" y="1955260"/>
            <a:chExt cx="603115" cy="584775"/>
          </a:xfrm>
        </p:grpSpPr>
        <p:sp>
          <p:nvSpPr>
            <p:cNvPr id="3" name="Oval 2">
              <a:extLst>
                <a:ext uri="{FF2B5EF4-FFF2-40B4-BE49-F238E27FC236}">
                  <a16:creationId xmlns:a16="http://schemas.microsoft.com/office/drawing/2014/main" id="{089343E5-4B2D-4BC3-8EE0-946E05CD05D9}"/>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0" name="Oval 9">
              <a:extLst>
                <a:ext uri="{FF2B5EF4-FFF2-40B4-BE49-F238E27FC236}">
                  <a16:creationId xmlns:a16="http://schemas.microsoft.com/office/drawing/2014/main" id="{1D168AE5-10DE-45C6-9E2E-7BD888A72375}"/>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1</a:t>
              </a:r>
            </a:p>
          </p:txBody>
        </p:sp>
      </p:grpSp>
      <p:grpSp>
        <p:nvGrpSpPr>
          <p:cNvPr id="21" name="Group 20">
            <a:extLst>
              <a:ext uri="{FF2B5EF4-FFF2-40B4-BE49-F238E27FC236}">
                <a16:creationId xmlns:a16="http://schemas.microsoft.com/office/drawing/2014/main" id="{D5E95E7B-E630-4DFF-9DBE-EE55E40FEADD}"/>
              </a:ext>
            </a:extLst>
          </p:cNvPr>
          <p:cNvGrpSpPr/>
          <p:nvPr/>
        </p:nvGrpSpPr>
        <p:grpSpPr>
          <a:xfrm>
            <a:off x="1381328" y="1434217"/>
            <a:ext cx="3988340" cy="1172796"/>
            <a:chOff x="1381328" y="1434217"/>
            <a:chExt cx="3988340" cy="1172796"/>
          </a:xfrm>
        </p:grpSpPr>
        <p:grpSp>
          <p:nvGrpSpPr>
            <p:cNvPr id="20" name="Group 19">
              <a:extLst>
                <a:ext uri="{FF2B5EF4-FFF2-40B4-BE49-F238E27FC236}">
                  <a16:creationId xmlns:a16="http://schemas.microsoft.com/office/drawing/2014/main" id="{BF6D0B17-11C6-4912-A377-9ACA0AA9214F}"/>
                </a:ext>
              </a:extLst>
            </p:cNvPr>
            <p:cNvGrpSpPr/>
            <p:nvPr/>
          </p:nvGrpSpPr>
          <p:grpSpPr>
            <a:xfrm>
              <a:off x="1381328" y="1434217"/>
              <a:ext cx="3988340" cy="1172796"/>
              <a:chOff x="1381328" y="1434217"/>
              <a:chExt cx="3988340" cy="1172796"/>
            </a:xfrm>
          </p:grpSpPr>
          <p:grpSp>
            <p:nvGrpSpPr>
              <p:cNvPr id="19" name="Group 18">
                <a:extLst>
                  <a:ext uri="{FF2B5EF4-FFF2-40B4-BE49-F238E27FC236}">
                    <a16:creationId xmlns:a16="http://schemas.microsoft.com/office/drawing/2014/main" id="{280696E0-F33F-4F8F-BEF9-47CE369EC2B4}"/>
                  </a:ext>
                </a:extLst>
              </p:cNvPr>
              <p:cNvGrpSpPr/>
              <p:nvPr/>
            </p:nvGrpSpPr>
            <p:grpSpPr>
              <a:xfrm>
                <a:off x="1381328" y="1434829"/>
                <a:ext cx="3988340" cy="1172184"/>
                <a:chOff x="1381328" y="1434829"/>
                <a:chExt cx="3988340" cy="1172184"/>
              </a:xfrm>
            </p:grpSpPr>
            <p:sp>
              <p:nvSpPr>
                <p:cNvPr id="7" name="Rectangle: Rounded Corners 6">
                  <a:extLst>
                    <a:ext uri="{FF2B5EF4-FFF2-40B4-BE49-F238E27FC236}">
                      <a16:creationId xmlns:a16="http://schemas.microsoft.com/office/drawing/2014/main" id="{9EE557D7-8B52-48E0-BA8F-679E1894310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8" name="Rectangle: Rounded Corners 7">
                  <a:extLst>
                    <a:ext uri="{FF2B5EF4-FFF2-40B4-BE49-F238E27FC236}">
                      <a16:creationId xmlns:a16="http://schemas.microsoft.com/office/drawing/2014/main" id="{9372ADC6-D177-4A3B-A941-FB3884741A1A}"/>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TextBox 8">
                <a:extLst>
                  <a:ext uri="{FF2B5EF4-FFF2-40B4-BE49-F238E27FC236}">
                    <a16:creationId xmlns:a16="http://schemas.microsoft.com/office/drawing/2014/main" id="{03EC3956-454F-47F7-9AA5-29BE27635D16}"/>
                  </a:ext>
                </a:extLst>
              </p:cNvPr>
              <p:cNvSpPr txBox="1"/>
              <p:nvPr/>
            </p:nvSpPr>
            <p:spPr>
              <a:xfrm>
                <a:off x="1976717" y="1434217"/>
                <a:ext cx="2896947" cy="338554"/>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Define Business Objective</a:t>
                </a:r>
              </a:p>
            </p:txBody>
          </p:sp>
        </p:grpSp>
        <p:sp>
          <p:nvSpPr>
            <p:cNvPr id="11" name="TextBox 10">
              <a:extLst>
                <a:ext uri="{FF2B5EF4-FFF2-40B4-BE49-F238E27FC236}">
                  <a16:creationId xmlns:a16="http://schemas.microsoft.com/office/drawing/2014/main" id="{F6CA487F-1F18-4418-AFDB-70EDFA869D6E}"/>
                </a:ext>
              </a:extLst>
            </p:cNvPr>
            <p:cNvSpPr txBox="1"/>
            <p:nvPr/>
          </p:nvSpPr>
          <p:spPr>
            <a:xfrm>
              <a:off x="1710446" y="1920858"/>
              <a:ext cx="3561945"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Understand the core problem and expected business outcomes.</a:t>
              </a:r>
              <a:endParaRPr lang="en-IN" dirty="0">
                <a:solidFill>
                  <a:schemeClr val="tx1">
                    <a:lumMod val="75000"/>
                    <a:lumOff val="25000"/>
                  </a:schemeClr>
                </a:solidFill>
                <a:latin typeface="Poppins" panose="020B0604020202020204" charset="0"/>
                <a:cs typeface="Poppins" panose="020B0604020202020204" charset="0"/>
              </a:endParaRPr>
            </a:p>
          </p:txBody>
        </p:sp>
      </p:grpSp>
      <p:grpSp>
        <p:nvGrpSpPr>
          <p:cNvPr id="22" name="Group 21">
            <a:extLst>
              <a:ext uri="{FF2B5EF4-FFF2-40B4-BE49-F238E27FC236}">
                <a16:creationId xmlns:a16="http://schemas.microsoft.com/office/drawing/2014/main" id="{19D0BBFF-8B46-41EA-9432-D45859685DF7}"/>
              </a:ext>
            </a:extLst>
          </p:cNvPr>
          <p:cNvGrpSpPr/>
          <p:nvPr/>
        </p:nvGrpSpPr>
        <p:grpSpPr>
          <a:xfrm>
            <a:off x="6919610" y="1434523"/>
            <a:ext cx="4653866" cy="1172796"/>
            <a:chOff x="6919610" y="1434523"/>
            <a:chExt cx="4653866" cy="1172796"/>
          </a:xfrm>
        </p:grpSpPr>
        <p:grpSp>
          <p:nvGrpSpPr>
            <p:cNvPr id="13" name="Group 12">
              <a:extLst>
                <a:ext uri="{FF2B5EF4-FFF2-40B4-BE49-F238E27FC236}">
                  <a16:creationId xmlns:a16="http://schemas.microsoft.com/office/drawing/2014/main" id="{11B7D166-4071-4D7E-9D73-F0FA24768FD5}"/>
                </a:ext>
              </a:extLst>
            </p:cNvPr>
            <p:cNvGrpSpPr/>
            <p:nvPr/>
          </p:nvGrpSpPr>
          <p:grpSpPr>
            <a:xfrm>
              <a:off x="6919610" y="1736386"/>
              <a:ext cx="515566" cy="496110"/>
              <a:chOff x="1342417" y="1955260"/>
              <a:chExt cx="603115" cy="584775"/>
            </a:xfrm>
          </p:grpSpPr>
          <p:sp>
            <p:nvSpPr>
              <p:cNvPr id="15" name="Oval 14">
                <a:extLst>
                  <a:ext uri="{FF2B5EF4-FFF2-40B4-BE49-F238E27FC236}">
                    <a16:creationId xmlns:a16="http://schemas.microsoft.com/office/drawing/2014/main" id="{73248B29-E84C-4432-8E22-0CEEA1986F73}"/>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16" name="Oval 15">
                <a:extLst>
                  <a:ext uri="{FF2B5EF4-FFF2-40B4-BE49-F238E27FC236}">
                    <a16:creationId xmlns:a16="http://schemas.microsoft.com/office/drawing/2014/main" id="{C927EDD5-A3A6-4179-B14F-5B8ABC9EF74F}"/>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2</a:t>
                </a:r>
              </a:p>
            </p:txBody>
          </p:sp>
        </p:grpSp>
        <p:grpSp>
          <p:nvGrpSpPr>
            <p:cNvPr id="25" name="Group 24">
              <a:extLst>
                <a:ext uri="{FF2B5EF4-FFF2-40B4-BE49-F238E27FC236}">
                  <a16:creationId xmlns:a16="http://schemas.microsoft.com/office/drawing/2014/main" id="{B8169776-30B8-4FBC-A478-8FFCF84A0AD9}"/>
                </a:ext>
              </a:extLst>
            </p:cNvPr>
            <p:cNvGrpSpPr/>
            <p:nvPr/>
          </p:nvGrpSpPr>
          <p:grpSpPr>
            <a:xfrm>
              <a:off x="7585136" y="1434523"/>
              <a:ext cx="3988340" cy="1172796"/>
              <a:chOff x="1381328" y="1434217"/>
              <a:chExt cx="3988340" cy="1172796"/>
            </a:xfrm>
          </p:grpSpPr>
          <p:grpSp>
            <p:nvGrpSpPr>
              <p:cNvPr id="26" name="Group 25">
                <a:extLst>
                  <a:ext uri="{FF2B5EF4-FFF2-40B4-BE49-F238E27FC236}">
                    <a16:creationId xmlns:a16="http://schemas.microsoft.com/office/drawing/2014/main" id="{2FBEE5F3-B4C3-4A4E-ADB4-1262739AED23}"/>
                  </a:ext>
                </a:extLst>
              </p:cNvPr>
              <p:cNvGrpSpPr/>
              <p:nvPr/>
            </p:nvGrpSpPr>
            <p:grpSpPr>
              <a:xfrm>
                <a:off x="1381328" y="1434217"/>
                <a:ext cx="3988340" cy="1172796"/>
                <a:chOff x="1381328" y="1434217"/>
                <a:chExt cx="3988340" cy="1172796"/>
              </a:xfrm>
            </p:grpSpPr>
            <p:grpSp>
              <p:nvGrpSpPr>
                <p:cNvPr id="28" name="Group 27">
                  <a:extLst>
                    <a:ext uri="{FF2B5EF4-FFF2-40B4-BE49-F238E27FC236}">
                      <a16:creationId xmlns:a16="http://schemas.microsoft.com/office/drawing/2014/main" id="{44EDF781-E63E-4928-AA7B-47091E998F42}"/>
                    </a:ext>
                  </a:extLst>
                </p:cNvPr>
                <p:cNvGrpSpPr/>
                <p:nvPr/>
              </p:nvGrpSpPr>
              <p:grpSpPr>
                <a:xfrm>
                  <a:off x="1381328" y="1434829"/>
                  <a:ext cx="3988340" cy="1172184"/>
                  <a:chOff x="1381328" y="1434829"/>
                  <a:chExt cx="3988340" cy="1172184"/>
                </a:xfrm>
              </p:grpSpPr>
              <p:sp>
                <p:nvSpPr>
                  <p:cNvPr id="30" name="Rectangle: Rounded Corners 29">
                    <a:extLst>
                      <a:ext uri="{FF2B5EF4-FFF2-40B4-BE49-F238E27FC236}">
                        <a16:creationId xmlns:a16="http://schemas.microsoft.com/office/drawing/2014/main" id="{D624CC8E-349B-4D52-84ED-47A6DB06B343}"/>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31" name="Rectangle: Rounded Corners 30">
                    <a:extLst>
                      <a:ext uri="{FF2B5EF4-FFF2-40B4-BE49-F238E27FC236}">
                        <a16:creationId xmlns:a16="http://schemas.microsoft.com/office/drawing/2014/main" id="{65C49F8A-6986-4B0F-8668-4B436C8AF79E}"/>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9" name="TextBox 28">
                  <a:extLst>
                    <a:ext uri="{FF2B5EF4-FFF2-40B4-BE49-F238E27FC236}">
                      <a16:creationId xmlns:a16="http://schemas.microsoft.com/office/drawing/2014/main" id="{8F9BDF65-E819-465C-A638-470B5BBB1ADF}"/>
                    </a:ext>
                  </a:extLst>
                </p:cNvPr>
                <p:cNvSpPr txBox="1"/>
                <p:nvPr/>
              </p:nvSpPr>
              <p:spPr>
                <a:xfrm>
                  <a:off x="1976717" y="1434217"/>
                  <a:ext cx="3251211" cy="400110"/>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t>Collect &amp; Consolidate Data</a:t>
                  </a:r>
                </a:p>
              </p:txBody>
            </p:sp>
          </p:grpSp>
          <p:sp>
            <p:nvSpPr>
              <p:cNvPr id="27" name="TextBox 26">
                <a:extLst>
                  <a:ext uri="{FF2B5EF4-FFF2-40B4-BE49-F238E27FC236}">
                    <a16:creationId xmlns:a16="http://schemas.microsoft.com/office/drawing/2014/main" id="{43B06949-40E7-46B3-A568-01AB147E024F}"/>
                  </a:ext>
                </a:extLst>
              </p:cNvPr>
              <p:cNvSpPr txBox="1"/>
              <p:nvPr/>
            </p:nvSpPr>
            <p:spPr>
              <a:xfrm>
                <a:off x="1562185" y="1893064"/>
                <a:ext cx="3703728"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Gather multi-source sales data (Excel sheets) and understand schema.</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33" name="Group 32">
            <a:extLst>
              <a:ext uri="{FF2B5EF4-FFF2-40B4-BE49-F238E27FC236}">
                <a16:creationId xmlns:a16="http://schemas.microsoft.com/office/drawing/2014/main" id="{25B761F6-5DB9-4DA5-B1D9-D59F4B34BD41}"/>
              </a:ext>
            </a:extLst>
          </p:cNvPr>
          <p:cNvGrpSpPr/>
          <p:nvPr/>
        </p:nvGrpSpPr>
        <p:grpSpPr>
          <a:xfrm>
            <a:off x="738779" y="3453359"/>
            <a:ext cx="4653866" cy="1173408"/>
            <a:chOff x="6919610" y="1433911"/>
            <a:chExt cx="4653866" cy="1173408"/>
          </a:xfrm>
        </p:grpSpPr>
        <p:grpSp>
          <p:nvGrpSpPr>
            <p:cNvPr id="34" name="Group 33">
              <a:extLst>
                <a:ext uri="{FF2B5EF4-FFF2-40B4-BE49-F238E27FC236}">
                  <a16:creationId xmlns:a16="http://schemas.microsoft.com/office/drawing/2014/main" id="{3BA967EC-2FC1-44F9-9F90-8FDD90E5A008}"/>
                </a:ext>
              </a:extLst>
            </p:cNvPr>
            <p:cNvGrpSpPr/>
            <p:nvPr/>
          </p:nvGrpSpPr>
          <p:grpSpPr>
            <a:xfrm>
              <a:off x="6919610" y="1736386"/>
              <a:ext cx="515566" cy="496110"/>
              <a:chOff x="1342417" y="1955260"/>
              <a:chExt cx="603115" cy="584775"/>
            </a:xfrm>
          </p:grpSpPr>
          <p:sp>
            <p:nvSpPr>
              <p:cNvPr id="42" name="Oval 41">
                <a:extLst>
                  <a:ext uri="{FF2B5EF4-FFF2-40B4-BE49-F238E27FC236}">
                    <a16:creationId xmlns:a16="http://schemas.microsoft.com/office/drawing/2014/main" id="{94208AF3-0F2C-427A-9E3D-9CB47C8B723E}"/>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43" name="Oval 42">
                <a:extLst>
                  <a:ext uri="{FF2B5EF4-FFF2-40B4-BE49-F238E27FC236}">
                    <a16:creationId xmlns:a16="http://schemas.microsoft.com/office/drawing/2014/main" id="{1544FD55-C41E-4C29-9371-25EB5C45A0F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4</a:t>
                </a:r>
              </a:p>
            </p:txBody>
          </p:sp>
        </p:grpSp>
        <p:grpSp>
          <p:nvGrpSpPr>
            <p:cNvPr id="35" name="Group 34">
              <a:extLst>
                <a:ext uri="{FF2B5EF4-FFF2-40B4-BE49-F238E27FC236}">
                  <a16:creationId xmlns:a16="http://schemas.microsoft.com/office/drawing/2014/main" id="{68F693FF-20BC-41C0-9714-BB2E7B1181C4}"/>
                </a:ext>
              </a:extLst>
            </p:cNvPr>
            <p:cNvGrpSpPr/>
            <p:nvPr/>
          </p:nvGrpSpPr>
          <p:grpSpPr>
            <a:xfrm>
              <a:off x="7585136" y="1433911"/>
              <a:ext cx="3988340" cy="1173408"/>
              <a:chOff x="1381328" y="1433605"/>
              <a:chExt cx="3988340" cy="1173408"/>
            </a:xfrm>
          </p:grpSpPr>
          <p:grpSp>
            <p:nvGrpSpPr>
              <p:cNvPr id="36" name="Group 35">
                <a:extLst>
                  <a:ext uri="{FF2B5EF4-FFF2-40B4-BE49-F238E27FC236}">
                    <a16:creationId xmlns:a16="http://schemas.microsoft.com/office/drawing/2014/main" id="{61B76429-847A-4A58-A656-B30BD733F7AB}"/>
                  </a:ext>
                </a:extLst>
              </p:cNvPr>
              <p:cNvGrpSpPr/>
              <p:nvPr/>
            </p:nvGrpSpPr>
            <p:grpSpPr>
              <a:xfrm>
                <a:off x="1381328" y="1433605"/>
                <a:ext cx="3988340" cy="1173408"/>
                <a:chOff x="1381328" y="1433605"/>
                <a:chExt cx="3988340" cy="1173408"/>
              </a:xfrm>
            </p:grpSpPr>
            <p:grpSp>
              <p:nvGrpSpPr>
                <p:cNvPr id="38" name="Group 37">
                  <a:extLst>
                    <a:ext uri="{FF2B5EF4-FFF2-40B4-BE49-F238E27FC236}">
                      <a16:creationId xmlns:a16="http://schemas.microsoft.com/office/drawing/2014/main" id="{35AB8DCD-1B22-4331-AB93-F0D09D45070B}"/>
                    </a:ext>
                  </a:extLst>
                </p:cNvPr>
                <p:cNvGrpSpPr/>
                <p:nvPr/>
              </p:nvGrpSpPr>
              <p:grpSpPr>
                <a:xfrm>
                  <a:off x="1381328" y="1434829"/>
                  <a:ext cx="3988340" cy="1172184"/>
                  <a:chOff x="1381328" y="1434829"/>
                  <a:chExt cx="3988340" cy="1172184"/>
                </a:xfrm>
              </p:grpSpPr>
              <p:sp>
                <p:nvSpPr>
                  <p:cNvPr id="40" name="Rectangle: Rounded Corners 39">
                    <a:extLst>
                      <a:ext uri="{FF2B5EF4-FFF2-40B4-BE49-F238E27FC236}">
                        <a16:creationId xmlns:a16="http://schemas.microsoft.com/office/drawing/2014/main" id="{9E8E0687-529A-457D-8CB6-34EF919B1591}"/>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41" name="Rectangle: Rounded Corners 40">
                    <a:extLst>
                      <a:ext uri="{FF2B5EF4-FFF2-40B4-BE49-F238E27FC236}">
                        <a16:creationId xmlns:a16="http://schemas.microsoft.com/office/drawing/2014/main" id="{5DA7EFF5-C8D7-41DB-920A-64F34FFE441C}"/>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9" name="TextBox 38">
                  <a:extLst>
                    <a:ext uri="{FF2B5EF4-FFF2-40B4-BE49-F238E27FC236}">
                      <a16:creationId xmlns:a16="http://schemas.microsoft.com/office/drawing/2014/main" id="{58C717FF-EB58-44E4-BBF4-A6526FD5923D}"/>
                    </a:ext>
                  </a:extLst>
                </p:cNvPr>
                <p:cNvSpPr txBox="1"/>
                <p:nvPr/>
              </p:nvSpPr>
              <p:spPr>
                <a:xfrm>
                  <a:off x="1859698" y="1433605"/>
                  <a:ext cx="3031599" cy="338554"/>
                </a:xfrm>
                <a:prstGeom prst="rect">
                  <a:avLst/>
                </a:prstGeom>
                <a:noFill/>
              </p:spPr>
              <p:txBody>
                <a:bodyPr wrap="none" rtlCol="0">
                  <a:spAutoFit/>
                </a:bodyPr>
                <a:lstStyle>
                  <a:defPPr marR="0" lvl="0" algn="l" rtl="0">
                    <a:lnSpc>
                      <a:spcPct val="100000"/>
                    </a:lnSpc>
                    <a:spcBef>
                      <a:spcPts val="0"/>
                    </a:spcBef>
                    <a:spcAft>
                      <a:spcPts val="0"/>
                    </a:spcAft>
                  </a:defPPr>
                  <a:lvl1pPr>
                    <a:defRPr sz="1600" b="1">
                      <a:solidFill>
                        <a:schemeClr val="bg1">
                          <a:lumMod val="95000"/>
                        </a:schemeClr>
                      </a:solidFill>
                      <a:latin typeface="Poppins" panose="020B0604020202020204" charset="0"/>
                      <a:cs typeface="Poppins" panose="020B0604020202020204" charset="0"/>
                    </a:defRPr>
                  </a:lvl1pPr>
                </a:lstStyle>
                <a:p>
                  <a:r>
                    <a:rPr lang="en-IN" dirty="0"/>
                    <a:t>Pre-processing &amp; Cleaning</a:t>
                  </a:r>
                </a:p>
              </p:txBody>
            </p:sp>
          </p:grpSp>
          <p:sp>
            <p:nvSpPr>
              <p:cNvPr id="37" name="TextBox 36">
                <a:extLst>
                  <a:ext uri="{FF2B5EF4-FFF2-40B4-BE49-F238E27FC236}">
                    <a16:creationId xmlns:a16="http://schemas.microsoft.com/office/drawing/2014/main" id="{562B146E-F93E-4760-BE00-6323D1BFD5E3}"/>
                  </a:ext>
                </a:extLst>
              </p:cNvPr>
              <p:cNvSpPr txBox="1"/>
              <p:nvPr/>
            </p:nvSpPr>
            <p:spPr>
              <a:xfrm>
                <a:off x="1546421" y="1893064"/>
                <a:ext cx="3584922"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Handle nulls, join tables, format dates, and normalize columns.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44" name="Group 43">
            <a:extLst>
              <a:ext uri="{FF2B5EF4-FFF2-40B4-BE49-F238E27FC236}">
                <a16:creationId xmlns:a16="http://schemas.microsoft.com/office/drawing/2014/main" id="{13ABB51D-93B4-4559-9723-16F56AB8FD1A}"/>
              </a:ext>
            </a:extLst>
          </p:cNvPr>
          <p:cNvGrpSpPr/>
          <p:nvPr/>
        </p:nvGrpSpPr>
        <p:grpSpPr>
          <a:xfrm>
            <a:off x="715802" y="5423783"/>
            <a:ext cx="4653866" cy="1172184"/>
            <a:chOff x="6919610" y="1435135"/>
            <a:chExt cx="4653866" cy="1172184"/>
          </a:xfrm>
        </p:grpSpPr>
        <p:grpSp>
          <p:nvGrpSpPr>
            <p:cNvPr id="45" name="Group 44">
              <a:extLst>
                <a:ext uri="{FF2B5EF4-FFF2-40B4-BE49-F238E27FC236}">
                  <a16:creationId xmlns:a16="http://schemas.microsoft.com/office/drawing/2014/main" id="{2F10BEBF-CAA9-4E1C-8804-9AD4FEBC11FC}"/>
                </a:ext>
              </a:extLst>
            </p:cNvPr>
            <p:cNvGrpSpPr/>
            <p:nvPr/>
          </p:nvGrpSpPr>
          <p:grpSpPr>
            <a:xfrm>
              <a:off x="6919610" y="1736386"/>
              <a:ext cx="515566" cy="496110"/>
              <a:chOff x="1342417" y="1955260"/>
              <a:chExt cx="603115" cy="584775"/>
            </a:xfrm>
          </p:grpSpPr>
          <p:sp>
            <p:nvSpPr>
              <p:cNvPr id="53" name="Oval 52">
                <a:extLst>
                  <a:ext uri="{FF2B5EF4-FFF2-40B4-BE49-F238E27FC236}">
                    <a16:creationId xmlns:a16="http://schemas.microsoft.com/office/drawing/2014/main" id="{A23A690E-7952-4904-9432-983B4AE651EA}"/>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54" name="Oval 53">
                <a:extLst>
                  <a:ext uri="{FF2B5EF4-FFF2-40B4-BE49-F238E27FC236}">
                    <a16:creationId xmlns:a16="http://schemas.microsoft.com/office/drawing/2014/main" id="{86C8023A-F416-463A-8EB7-8AC1B7725EF9}"/>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5</a:t>
                </a:r>
              </a:p>
            </p:txBody>
          </p:sp>
        </p:grpSp>
        <p:grpSp>
          <p:nvGrpSpPr>
            <p:cNvPr id="46" name="Group 45">
              <a:extLst>
                <a:ext uri="{FF2B5EF4-FFF2-40B4-BE49-F238E27FC236}">
                  <a16:creationId xmlns:a16="http://schemas.microsoft.com/office/drawing/2014/main" id="{2FD70D27-79C1-4CB8-9C88-50C0AD4D1C43}"/>
                </a:ext>
              </a:extLst>
            </p:cNvPr>
            <p:cNvGrpSpPr/>
            <p:nvPr/>
          </p:nvGrpSpPr>
          <p:grpSpPr>
            <a:xfrm>
              <a:off x="7585136" y="1435135"/>
              <a:ext cx="3988340" cy="1172184"/>
              <a:chOff x="1381328" y="1434829"/>
              <a:chExt cx="3988340" cy="1172184"/>
            </a:xfrm>
          </p:grpSpPr>
          <p:grpSp>
            <p:nvGrpSpPr>
              <p:cNvPr id="47" name="Group 46">
                <a:extLst>
                  <a:ext uri="{FF2B5EF4-FFF2-40B4-BE49-F238E27FC236}">
                    <a16:creationId xmlns:a16="http://schemas.microsoft.com/office/drawing/2014/main" id="{FB466A84-A327-402E-B0EE-240358F469A9}"/>
                  </a:ext>
                </a:extLst>
              </p:cNvPr>
              <p:cNvGrpSpPr/>
              <p:nvPr/>
            </p:nvGrpSpPr>
            <p:grpSpPr>
              <a:xfrm>
                <a:off x="1381328" y="1434829"/>
                <a:ext cx="3988340" cy="1172184"/>
                <a:chOff x="1381328" y="1434829"/>
                <a:chExt cx="3988340" cy="1172184"/>
              </a:xfrm>
            </p:grpSpPr>
            <p:grpSp>
              <p:nvGrpSpPr>
                <p:cNvPr id="49" name="Group 48">
                  <a:extLst>
                    <a:ext uri="{FF2B5EF4-FFF2-40B4-BE49-F238E27FC236}">
                      <a16:creationId xmlns:a16="http://schemas.microsoft.com/office/drawing/2014/main" id="{E38C62B5-1764-446B-B8BD-582328EDE665}"/>
                    </a:ext>
                  </a:extLst>
                </p:cNvPr>
                <p:cNvGrpSpPr/>
                <p:nvPr/>
              </p:nvGrpSpPr>
              <p:grpSpPr>
                <a:xfrm>
                  <a:off x="1381328" y="1434829"/>
                  <a:ext cx="3988340" cy="1172184"/>
                  <a:chOff x="1381328" y="1434829"/>
                  <a:chExt cx="3988340" cy="1172184"/>
                </a:xfrm>
              </p:grpSpPr>
              <p:sp>
                <p:nvSpPr>
                  <p:cNvPr id="51" name="Rectangle: Rounded Corners 50">
                    <a:extLst>
                      <a:ext uri="{FF2B5EF4-FFF2-40B4-BE49-F238E27FC236}">
                        <a16:creationId xmlns:a16="http://schemas.microsoft.com/office/drawing/2014/main" id="{2EF5203A-A08B-49A0-AE56-3C8F4E786575}"/>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52" name="Rectangle: Rounded Corners 51">
                    <a:extLst>
                      <a:ext uri="{FF2B5EF4-FFF2-40B4-BE49-F238E27FC236}">
                        <a16:creationId xmlns:a16="http://schemas.microsoft.com/office/drawing/2014/main" id="{DA02AB28-1830-431E-983F-6887ADC3BDD6}"/>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0" name="TextBox 49">
                  <a:extLst>
                    <a:ext uri="{FF2B5EF4-FFF2-40B4-BE49-F238E27FC236}">
                      <a16:creationId xmlns:a16="http://schemas.microsoft.com/office/drawing/2014/main" id="{CCFB88F7-E9DF-47EA-9A63-46EC97BB4623}"/>
                    </a:ext>
                  </a:extLst>
                </p:cNvPr>
                <p:cNvSpPr txBox="1"/>
                <p:nvPr/>
              </p:nvSpPr>
              <p:spPr>
                <a:xfrm>
                  <a:off x="1569398" y="1444250"/>
                  <a:ext cx="3562194" cy="338554"/>
                </a:xfrm>
                <a:prstGeom prst="rect">
                  <a:avLst/>
                </a:prstGeom>
                <a:noFill/>
              </p:spPr>
              <p:txBody>
                <a:bodyPr wrap="none" rtlCol="0">
                  <a:spAutoFit/>
                </a:bodyPr>
                <a:lstStyle>
                  <a:defPPr marR="0" lvl="0" algn="l" rtl="0">
                    <a:lnSpc>
                      <a:spcPct val="100000"/>
                    </a:lnSpc>
                    <a:spcBef>
                      <a:spcPts val="0"/>
                    </a:spcBef>
                    <a:spcAft>
                      <a:spcPts val="0"/>
                    </a:spcAft>
                    <a:defRPr/>
                  </a:defPPr>
                  <a:lvl1pPr>
                    <a:defRPr sz="1600" b="1">
                      <a:solidFill>
                        <a:schemeClr val="bg1">
                          <a:lumMod val="95000"/>
                        </a:schemeClr>
                      </a:solidFill>
                      <a:latin typeface="Poppins" panose="020B0604020202020204" charset="0"/>
                      <a:cs typeface="Poppins" panose="020B0604020202020204" charset="0"/>
                    </a:defRPr>
                  </a:lvl1pPr>
                </a:lstStyle>
                <a:p>
                  <a:r>
                    <a:rPr lang="en-IN" dirty="0"/>
                    <a:t>Exploratory Data Analysis (EDA)</a:t>
                  </a:r>
                </a:p>
              </p:txBody>
            </p:sp>
          </p:grpSp>
          <p:sp>
            <p:nvSpPr>
              <p:cNvPr id="48" name="TextBox 47">
                <a:extLst>
                  <a:ext uri="{FF2B5EF4-FFF2-40B4-BE49-F238E27FC236}">
                    <a16:creationId xmlns:a16="http://schemas.microsoft.com/office/drawing/2014/main" id="{E03AD762-7D6E-4041-9E82-C8162B932722}"/>
                  </a:ext>
                </a:extLst>
              </p:cNvPr>
              <p:cNvSpPr txBox="1"/>
              <p:nvPr/>
            </p:nvSpPr>
            <p:spPr>
              <a:xfrm>
                <a:off x="1528064" y="1893064"/>
                <a:ext cx="3603279"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Visualize trends, compare performance, and extract key insights.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55" name="Group 54">
            <a:extLst>
              <a:ext uri="{FF2B5EF4-FFF2-40B4-BE49-F238E27FC236}">
                <a16:creationId xmlns:a16="http://schemas.microsoft.com/office/drawing/2014/main" id="{72B13C1E-3853-4A2C-BFA8-EA9291EB86D9}"/>
              </a:ext>
            </a:extLst>
          </p:cNvPr>
          <p:cNvGrpSpPr/>
          <p:nvPr/>
        </p:nvGrpSpPr>
        <p:grpSpPr>
          <a:xfrm>
            <a:off x="6919610" y="5385716"/>
            <a:ext cx="4844748" cy="1210636"/>
            <a:chOff x="6919610" y="1396683"/>
            <a:chExt cx="4844748" cy="1210636"/>
          </a:xfrm>
        </p:grpSpPr>
        <p:grpSp>
          <p:nvGrpSpPr>
            <p:cNvPr id="56" name="Group 55">
              <a:extLst>
                <a:ext uri="{FF2B5EF4-FFF2-40B4-BE49-F238E27FC236}">
                  <a16:creationId xmlns:a16="http://schemas.microsoft.com/office/drawing/2014/main" id="{110D2896-6330-44DF-BCBE-D030ED21923C}"/>
                </a:ext>
              </a:extLst>
            </p:cNvPr>
            <p:cNvGrpSpPr/>
            <p:nvPr/>
          </p:nvGrpSpPr>
          <p:grpSpPr>
            <a:xfrm>
              <a:off x="6919610" y="1736386"/>
              <a:ext cx="515566" cy="496110"/>
              <a:chOff x="1342417" y="1955260"/>
              <a:chExt cx="603115" cy="584775"/>
            </a:xfrm>
          </p:grpSpPr>
          <p:sp>
            <p:nvSpPr>
              <p:cNvPr id="64" name="Oval 63">
                <a:extLst>
                  <a:ext uri="{FF2B5EF4-FFF2-40B4-BE49-F238E27FC236}">
                    <a16:creationId xmlns:a16="http://schemas.microsoft.com/office/drawing/2014/main" id="{333211AA-D5D4-48C2-A12C-CCB8B7CE85C0}"/>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65" name="Oval 64">
                <a:extLst>
                  <a:ext uri="{FF2B5EF4-FFF2-40B4-BE49-F238E27FC236}">
                    <a16:creationId xmlns:a16="http://schemas.microsoft.com/office/drawing/2014/main" id="{BC36FB47-425A-4D7F-B668-948636DEDBEC}"/>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6</a:t>
                </a:r>
              </a:p>
            </p:txBody>
          </p:sp>
        </p:grpSp>
        <p:grpSp>
          <p:nvGrpSpPr>
            <p:cNvPr id="57" name="Group 56">
              <a:extLst>
                <a:ext uri="{FF2B5EF4-FFF2-40B4-BE49-F238E27FC236}">
                  <a16:creationId xmlns:a16="http://schemas.microsoft.com/office/drawing/2014/main" id="{E0E4E9CE-06FE-4A1A-AEDB-A3115758DB6B}"/>
                </a:ext>
              </a:extLst>
            </p:cNvPr>
            <p:cNvGrpSpPr/>
            <p:nvPr/>
          </p:nvGrpSpPr>
          <p:grpSpPr>
            <a:xfrm>
              <a:off x="7585136" y="1396683"/>
              <a:ext cx="4179222" cy="1210636"/>
              <a:chOff x="1381328" y="1396377"/>
              <a:chExt cx="4179222" cy="1210636"/>
            </a:xfrm>
          </p:grpSpPr>
          <p:grpSp>
            <p:nvGrpSpPr>
              <p:cNvPr id="58" name="Group 57">
                <a:extLst>
                  <a:ext uri="{FF2B5EF4-FFF2-40B4-BE49-F238E27FC236}">
                    <a16:creationId xmlns:a16="http://schemas.microsoft.com/office/drawing/2014/main" id="{1AB8E4A4-F199-4A40-ADCF-4C974F31936D}"/>
                  </a:ext>
                </a:extLst>
              </p:cNvPr>
              <p:cNvGrpSpPr/>
              <p:nvPr/>
            </p:nvGrpSpPr>
            <p:grpSpPr>
              <a:xfrm>
                <a:off x="1381328" y="1396377"/>
                <a:ext cx="4179222" cy="1210636"/>
                <a:chOff x="1381328" y="1396377"/>
                <a:chExt cx="4179222" cy="1210636"/>
              </a:xfrm>
            </p:grpSpPr>
            <p:grpSp>
              <p:nvGrpSpPr>
                <p:cNvPr id="60" name="Group 59">
                  <a:extLst>
                    <a:ext uri="{FF2B5EF4-FFF2-40B4-BE49-F238E27FC236}">
                      <a16:creationId xmlns:a16="http://schemas.microsoft.com/office/drawing/2014/main" id="{6060757E-3A57-4E72-8521-B3500CC3B70E}"/>
                    </a:ext>
                  </a:extLst>
                </p:cNvPr>
                <p:cNvGrpSpPr/>
                <p:nvPr/>
              </p:nvGrpSpPr>
              <p:grpSpPr>
                <a:xfrm>
                  <a:off x="1381328" y="1434829"/>
                  <a:ext cx="3988340" cy="1172184"/>
                  <a:chOff x="1381328" y="1434829"/>
                  <a:chExt cx="3988340" cy="1172184"/>
                </a:xfrm>
              </p:grpSpPr>
              <p:sp>
                <p:nvSpPr>
                  <p:cNvPr id="62" name="Rectangle: Rounded Corners 61">
                    <a:extLst>
                      <a:ext uri="{FF2B5EF4-FFF2-40B4-BE49-F238E27FC236}">
                        <a16:creationId xmlns:a16="http://schemas.microsoft.com/office/drawing/2014/main" id="{C9F6EF91-EEB2-4200-ACFE-2EA2A0C10A7C}"/>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63" name="Rectangle: Rounded Corners 62">
                    <a:extLst>
                      <a:ext uri="{FF2B5EF4-FFF2-40B4-BE49-F238E27FC236}">
                        <a16:creationId xmlns:a16="http://schemas.microsoft.com/office/drawing/2014/main" id="{ACD131EC-6919-4C50-A80F-27A3831A01A7}"/>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1" name="TextBox 60">
                  <a:extLst>
                    <a:ext uri="{FF2B5EF4-FFF2-40B4-BE49-F238E27FC236}">
                      <a16:creationId xmlns:a16="http://schemas.microsoft.com/office/drawing/2014/main" id="{D5D5ED60-A3EA-45E9-97D8-1F08E47E6C2F}"/>
                    </a:ext>
                  </a:extLst>
                </p:cNvPr>
                <p:cNvSpPr txBox="1"/>
                <p:nvPr/>
              </p:nvSpPr>
              <p:spPr>
                <a:xfrm>
                  <a:off x="1408451" y="1396377"/>
                  <a:ext cx="4152099" cy="400110"/>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Dashboarding</a:t>
                  </a:r>
                  <a:r>
                    <a:rPr lang="en-IN" sz="2000" dirty="0"/>
                    <a:t> </a:t>
                  </a:r>
                  <a:r>
                    <a:rPr lang="en-IN" sz="1600" b="1" dirty="0">
                      <a:solidFill>
                        <a:schemeClr val="bg1">
                          <a:lumMod val="95000"/>
                        </a:schemeClr>
                      </a:solidFill>
                      <a:latin typeface="Poppins" panose="020B0604020202020204" charset="0"/>
                      <a:cs typeface="Poppins" panose="020B0604020202020204" charset="0"/>
                    </a:rPr>
                    <a:t>&amp;</a:t>
                  </a:r>
                  <a:r>
                    <a:rPr lang="en-IN" sz="2000" dirty="0"/>
                    <a:t> </a:t>
                  </a:r>
                  <a:r>
                    <a:rPr lang="en-IN" sz="1600" b="1" dirty="0">
                      <a:solidFill>
                        <a:schemeClr val="bg1">
                          <a:lumMod val="95000"/>
                        </a:schemeClr>
                      </a:solidFill>
                      <a:latin typeface="Poppins" panose="020B0604020202020204" charset="0"/>
                      <a:cs typeface="Poppins" panose="020B0604020202020204" charset="0"/>
                    </a:rPr>
                    <a:t>Recommendations</a:t>
                  </a:r>
                </a:p>
              </p:txBody>
            </p:sp>
          </p:grpSp>
          <p:sp>
            <p:nvSpPr>
              <p:cNvPr id="59" name="TextBox 58">
                <a:extLst>
                  <a:ext uri="{FF2B5EF4-FFF2-40B4-BE49-F238E27FC236}">
                    <a16:creationId xmlns:a16="http://schemas.microsoft.com/office/drawing/2014/main" id="{E91E3C3A-3821-404A-ADC1-9EF6E819833C}"/>
                  </a:ext>
                </a:extLst>
              </p:cNvPr>
              <p:cNvSpPr txBox="1"/>
              <p:nvPr/>
            </p:nvSpPr>
            <p:spPr>
              <a:xfrm>
                <a:off x="1562185" y="1893064"/>
                <a:ext cx="3569158"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Build Power BI dashboard and present strategic findings.</a:t>
                </a:r>
                <a:endParaRPr lang="en-IN" dirty="0">
                  <a:solidFill>
                    <a:schemeClr val="tx1">
                      <a:lumMod val="75000"/>
                      <a:lumOff val="25000"/>
                    </a:schemeClr>
                  </a:solidFill>
                  <a:latin typeface="Poppins" panose="020B0604020202020204" charset="0"/>
                  <a:cs typeface="Poppins" panose="020B0604020202020204" charset="0"/>
                </a:endParaRPr>
              </a:p>
            </p:txBody>
          </p:sp>
        </p:grpSp>
      </p:grpSp>
      <p:grpSp>
        <p:nvGrpSpPr>
          <p:cNvPr id="66" name="Group 65">
            <a:extLst>
              <a:ext uri="{FF2B5EF4-FFF2-40B4-BE49-F238E27FC236}">
                <a16:creationId xmlns:a16="http://schemas.microsoft.com/office/drawing/2014/main" id="{083E314C-FD29-4853-A3B8-B4A0D19F605D}"/>
              </a:ext>
            </a:extLst>
          </p:cNvPr>
          <p:cNvGrpSpPr/>
          <p:nvPr/>
        </p:nvGrpSpPr>
        <p:grpSpPr>
          <a:xfrm>
            <a:off x="6919610" y="3420323"/>
            <a:ext cx="4653866" cy="1172184"/>
            <a:chOff x="6919610" y="1435135"/>
            <a:chExt cx="4653866" cy="1172184"/>
          </a:xfrm>
        </p:grpSpPr>
        <p:grpSp>
          <p:nvGrpSpPr>
            <p:cNvPr id="67" name="Group 66">
              <a:extLst>
                <a:ext uri="{FF2B5EF4-FFF2-40B4-BE49-F238E27FC236}">
                  <a16:creationId xmlns:a16="http://schemas.microsoft.com/office/drawing/2014/main" id="{CB5166AC-044A-438B-BE88-D3A913A5DC12}"/>
                </a:ext>
              </a:extLst>
            </p:cNvPr>
            <p:cNvGrpSpPr/>
            <p:nvPr/>
          </p:nvGrpSpPr>
          <p:grpSpPr>
            <a:xfrm>
              <a:off x="6919610" y="1736386"/>
              <a:ext cx="515566" cy="496110"/>
              <a:chOff x="1342417" y="1955260"/>
              <a:chExt cx="603115" cy="584775"/>
            </a:xfrm>
          </p:grpSpPr>
          <p:sp>
            <p:nvSpPr>
              <p:cNvPr id="75" name="Oval 74">
                <a:extLst>
                  <a:ext uri="{FF2B5EF4-FFF2-40B4-BE49-F238E27FC236}">
                    <a16:creationId xmlns:a16="http://schemas.microsoft.com/office/drawing/2014/main" id="{CD174C2B-4C25-496A-916E-6EC07BF44514}"/>
                  </a:ext>
                </a:extLst>
              </p:cNvPr>
              <p:cNvSpPr/>
              <p:nvPr/>
            </p:nvSpPr>
            <p:spPr>
              <a:xfrm>
                <a:off x="1342417" y="1955260"/>
                <a:ext cx="603115" cy="584775"/>
              </a:xfrm>
              <a:prstGeom prst="ellipse">
                <a:avLst/>
              </a:prstGeom>
              <a:solidFill>
                <a:schemeClr val="bg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1</a:t>
                </a:r>
              </a:p>
            </p:txBody>
          </p:sp>
          <p:sp>
            <p:nvSpPr>
              <p:cNvPr id="76" name="Oval 75">
                <a:extLst>
                  <a:ext uri="{FF2B5EF4-FFF2-40B4-BE49-F238E27FC236}">
                    <a16:creationId xmlns:a16="http://schemas.microsoft.com/office/drawing/2014/main" id="{71449820-6234-4F87-9A9A-EF0F3A52A94B}"/>
                  </a:ext>
                </a:extLst>
              </p:cNvPr>
              <p:cNvSpPr/>
              <p:nvPr/>
            </p:nvSpPr>
            <p:spPr>
              <a:xfrm>
                <a:off x="1418616" y="2048483"/>
                <a:ext cx="447258" cy="399822"/>
              </a:xfrm>
              <a:prstGeom prst="ellipse">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chemeClr val="tx1">
                        <a:lumMod val="85000"/>
                        <a:lumOff val="15000"/>
                      </a:schemeClr>
                    </a:solidFill>
                    <a:latin typeface="Poppins" panose="020B0604020202020204" charset="0"/>
                    <a:cs typeface="Poppins" panose="020B0604020202020204" charset="0"/>
                  </a:rPr>
                  <a:t>3</a:t>
                </a:r>
              </a:p>
            </p:txBody>
          </p:sp>
        </p:grpSp>
        <p:grpSp>
          <p:nvGrpSpPr>
            <p:cNvPr id="68" name="Group 67">
              <a:extLst>
                <a:ext uri="{FF2B5EF4-FFF2-40B4-BE49-F238E27FC236}">
                  <a16:creationId xmlns:a16="http://schemas.microsoft.com/office/drawing/2014/main" id="{FA2FF067-0F24-4F0E-BB1C-B267C0AB36F0}"/>
                </a:ext>
              </a:extLst>
            </p:cNvPr>
            <p:cNvGrpSpPr/>
            <p:nvPr/>
          </p:nvGrpSpPr>
          <p:grpSpPr>
            <a:xfrm>
              <a:off x="7585136" y="1435135"/>
              <a:ext cx="3988340" cy="1172184"/>
              <a:chOff x="1381328" y="1434829"/>
              <a:chExt cx="3988340" cy="1172184"/>
            </a:xfrm>
          </p:grpSpPr>
          <p:grpSp>
            <p:nvGrpSpPr>
              <p:cNvPr id="69" name="Group 68">
                <a:extLst>
                  <a:ext uri="{FF2B5EF4-FFF2-40B4-BE49-F238E27FC236}">
                    <a16:creationId xmlns:a16="http://schemas.microsoft.com/office/drawing/2014/main" id="{9D0BC41F-907D-4514-8C9C-E73AEF850A4A}"/>
                  </a:ext>
                </a:extLst>
              </p:cNvPr>
              <p:cNvGrpSpPr/>
              <p:nvPr/>
            </p:nvGrpSpPr>
            <p:grpSpPr>
              <a:xfrm>
                <a:off x="1381328" y="1434829"/>
                <a:ext cx="3988340" cy="1172184"/>
                <a:chOff x="1381328" y="1434829"/>
                <a:chExt cx="3988340" cy="1172184"/>
              </a:xfrm>
            </p:grpSpPr>
            <p:grpSp>
              <p:nvGrpSpPr>
                <p:cNvPr id="71" name="Group 70">
                  <a:extLst>
                    <a:ext uri="{FF2B5EF4-FFF2-40B4-BE49-F238E27FC236}">
                      <a16:creationId xmlns:a16="http://schemas.microsoft.com/office/drawing/2014/main" id="{892EABF6-5D86-4055-91E0-A615C2AC3E8F}"/>
                    </a:ext>
                  </a:extLst>
                </p:cNvPr>
                <p:cNvGrpSpPr/>
                <p:nvPr/>
              </p:nvGrpSpPr>
              <p:grpSpPr>
                <a:xfrm>
                  <a:off x="1381328" y="1434829"/>
                  <a:ext cx="3988340" cy="1172184"/>
                  <a:chOff x="1381328" y="1434829"/>
                  <a:chExt cx="3988340" cy="1172184"/>
                </a:xfrm>
              </p:grpSpPr>
              <p:sp>
                <p:nvSpPr>
                  <p:cNvPr id="73" name="Rectangle: Rounded Corners 72">
                    <a:extLst>
                      <a:ext uri="{FF2B5EF4-FFF2-40B4-BE49-F238E27FC236}">
                        <a16:creationId xmlns:a16="http://schemas.microsoft.com/office/drawing/2014/main" id="{C346E881-C62B-4D7C-9B95-A54F2ED586A2}"/>
                      </a:ext>
                    </a:extLst>
                  </p:cNvPr>
                  <p:cNvSpPr/>
                  <p:nvPr/>
                </p:nvSpPr>
                <p:spPr>
                  <a:xfrm>
                    <a:off x="1381328" y="1434829"/>
                    <a:ext cx="3988340" cy="1172184"/>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De</a:t>
                    </a:r>
                  </a:p>
                </p:txBody>
              </p:sp>
              <p:sp>
                <p:nvSpPr>
                  <p:cNvPr id="74" name="Rectangle: Rounded Corners 73">
                    <a:extLst>
                      <a:ext uri="{FF2B5EF4-FFF2-40B4-BE49-F238E27FC236}">
                        <a16:creationId xmlns:a16="http://schemas.microsoft.com/office/drawing/2014/main" id="{F0A7A4F5-E0B6-4EFE-9737-634C9FC71115}"/>
                      </a:ext>
                    </a:extLst>
                  </p:cNvPr>
                  <p:cNvSpPr/>
                  <p:nvPr/>
                </p:nvSpPr>
                <p:spPr>
                  <a:xfrm>
                    <a:off x="1381328" y="1772159"/>
                    <a:ext cx="3988340" cy="83485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72" name="TextBox 71">
                  <a:extLst>
                    <a:ext uri="{FF2B5EF4-FFF2-40B4-BE49-F238E27FC236}">
                      <a16:creationId xmlns:a16="http://schemas.microsoft.com/office/drawing/2014/main" id="{A2CD427E-0952-4B14-B432-2BE2E30E4A11}"/>
                    </a:ext>
                  </a:extLst>
                </p:cNvPr>
                <p:cNvSpPr txBox="1"/>
                <p:nvPr/>
              </p:nvSpPr>
              <p:spPr>
                <a:xfrm>
                  <a:off x="1562185" y="1443506"/>
                  <a:ext cx="3687228" cy="338554"/>
                </a:xfrm>
                <a:prstGeom prst="rect">
                  <a:avLst/>
                </a:prstGeom>
                <a:noFill/>
              </p:spPr>
              <p:txBody>
                <a:bodyPr wrap="none" rtlCol="0">
                  <a:spAutoFit/>
                </a:bodyPr>
                <a:lstStyle/>
                <a:p>
                  <a:r>
                    <a:rPr lang="en-IN" sz="1600" b="1" dirty="0">
                      <a:solidFill>
                        <a:schemeClr val="bg1">
                          <a:lumMod val="95000"/>
                        </a:schemeClr>
                      </a:solidFill>
                      <a:latin typeface="Poppins" panose="020B0604020202020204" charset="0"/>
                      <a:cs typeface="Poppins" panose="020B0604020202020204" charset="0"/>
                    </a:rPr>
                    <a:t>Data Loading &amp; Initial Exploration</a:t>
                  </a:r>
                </a:p>
              </p:txBody>
            </p:sp>
          </p:grpSp>
          <p:sp>
            <p:nvSpPr>
              <p:cNvPr id="70" name="TextBox 69">
                <a:extLst>
                  <a:ext uri="{FF2B5EF4-FFF2-40B4-BE49-F238E27FC236}">
                    <a16:creationId xmlns:a16="http://schemas.microsoft.com/office/drawing/2014/main" id="{69E30CEB-3954-4594-84AC-00D2BD922791}"/>
                  </a:ext>
                </a:extLst>
              </p:cNvPr>
              <p:cNvSpPr txBox="1"/>
              <p:nvPr/>
            </p:nvSpPr>
            <p:spPr>
              <a:xfrm>
                <a:off x="1562185" y="1893064"/>
                <a:ext cx="3622090" cy="523220"/>
              </a:xfrm>
              <a:prstGeom prst="rect">
                <a:avLst/>
              </a:prstGeom>
              <a:noFill/>
            </p:spPr>
            <p:txBody>
              <a:bodyPr wrap="square" rtlCol="0">
                <a:spAutoFit/>
              </a:bodyPr>
              <a:lstStyle/>
              <a:p>
                <a:r>
                  <a:rPr lang="en-GB" dirty="0">
                    <a:solidFill>
                      <a:schemeClr val="tx1">
                        <a:lumMod val="75000"/>
                        <a:lumOff val="25000"/>
                      </a:schemeClr>
                    </a:solidFill>
                    <a:latin typeface="Poppins" panose="020B0604020202020204" charset="0"/>
                    <a:cs typeface="Poppins" panose="020B0604020202020204" charset="0"/>
                  </a:rPr>
                  <a:t>Load into Colab for initial profiling and data understanding using Python.</a:t>
                </a:r>
                <a:endParaRPr lang="en-IN" dirty="0">
                  <a:solidFill>
                    <a:schemeClr val="tx1">
                      <a:lumMod val="75000"/>
                      <a:lumOff val="25000"/>
                    </a:schemeClr>
                  </a:solidFill>
                  <a:latin typeface="Poppins" panose="020B0604020202020204" charset="0"/>
                  <a:cs typeface="Poppins" panose="020B0604020202020204" charset="0"/>
                </a:endParaRPr>
              </a:p>
            </p:txBody>
          </p:sp>
        </p:grpSp>
      </p:grpSp>
      <p:sp>
        <p:nvSpPr>
          <p:cNvPr id="23" name="Arrow: Right 22">
            <a:extLst>
              <a:ext uri="{FF2B5EF4-FFF2-40B4-BE49-F238E27FC236}">
                <a16:creationId xmlns:a16="http://schemas.microsoft.com/office/drawing/2014/main" id="{07B9B53A-B034-4382-A896-C2726EE95972}"/>
              </a:ext>
            </a:extLst>
          </p:cNvPr>
          <p:cNvSpPr/>
          <p:nvPr/>
        </p:nvSpPr>
        <p:spPr>
          <a:xfrm>
            <a:off x="5711497" y="1919825"/>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Arrow: Right 77">
            <a:extLst>
              <a:ext uri="{FF2B5EF4-FFF2-40B4-BE49-F238E27FC236}">
                <a16:creationId xmlns:a16="http://schemas.microsoft.com/office/drawing/2014/main" id="{3889887A-74E6-40EB-B837-1877233C60FC}"/>
              </a:ext>
            </a:extLst>
          </p:cNvPr>
          <p:cNvSpPr/>
          <p:nvPr/>
        </p:nvSpPr>
        <p:spPr>
          <a:xfrm flipH="1">
            <a:off x="5711497" y="3834922"/>
            <a:ext cx="884903" cy="252881"/>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Arrow: Right 78">
            <a:extLst>
              <a:ext uri="{FF2B5EF4-FFF2-40B4-BE49-F238E27FC236}">
                <a16:creationId xmlns:a16="http://schemas.microsoft.com/office/drawing/2014/main" id="{1BEB75ED-733C-42F9-A05E-32835DF6F647}"/>
              </a:ext>
            </a:extLst>
          </p:cNvPr>
          <p:cNvSpPr/>
          <p:nvPr/>
        </p:nvSpPr>
        <p:spPr>
          <a:xfrm>
            <a:off x="5711497" y="5856181"/>
            <a:ext cx="884904" cy="233816"/>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Arrow: Right 79">
            <a:extLst>
              <a:ext uri="{FF2B5EF4-FFF2-40B4-BE49-F238E27FC236}">
                <a16:creationId xmlns:a16="http://schemas.microsoft.com/office/drawing/2014/main" id="{6FA1A312-DD06-4728-96F8-F8B412D92DA6}"/>
              </a:ext>
            </a:extLst>
          </p:cNvPr>
          <p:cNvSpPr/>
          <p:nvPr/>
        </p:nvSpPr>
        <p:spPr>
          <a:xfrm rot="5400000">
            <a:off x="9271597" y="2882540"/>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1" name="Arrow: Right 80">
            <a:extLst>
              <a:ext uri="{FF2B5EF4-FFF2-40B4-BE49-F238E27FC236}">
                <a16:creationId xmlns:a16="http://schemas.microsoft.com/office/drawing/2014/main" id="{472CC1FB-C494-4C5B-A225-88F6655DA517}"/>
              </a:ext>
            </a:extLst>
          </p:cNvPr>
          <p:cNvSpPr/>
          <p:nvPr/>
        </p:nvSpPr>
        <p:spPr>
          <a:xfrm rot="5400000">
            <a:off x="3024831" y="4909703"/>
            <a:ext cx="557950" cy="242767"/>
          </a:xfrm>
          <a:prstGeom prst="rightArrow">
            <a:avLst/>
          </a:prstGeom>
          <a:solidFill>
            <a:schemeClr val="tx2">
              <a:lumMod val="9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Google Shape;147;p2">
            <a:extLst>
              <a:ext uri="{FF2B5EF4-FFF2-40B4-BE49-F238E27FC236}">
                <a16:creationId xmlns:a16="http://schemas.microsoft.com/office/drawing/2014/main" id="{FE671C9F-19B6-4496-AED5-59042014B1D2}"/>
              </a:ext>
            </a:extLst>
          </p:cNvPr>
          <p:cNvSpPr txBox="1">
            <a:spLocks/>
          </p:cNvSpPr>
          <p:nvPr/>
        </p:nvSpPr>
        <p:spPr>
          <a:xfrm>
            <a:off x="463043" y="421813"/>
            <a:ext cx="4070857" cy="98488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latin typeface="Poppins" panose="020B0604020202020204" charset="0"/>
                <a:cs typeface="Poppins" panose="020B0604020202020204" charset="0"/>
              </a:rPr>
              <a:t>Project Workflow</a:t>
            </a:r>
          </a:p>
          <a:p>
            <a:endParaRPr lang="en-US" sz="3200" dirty="0">
              <a:solidFill>
                <a:schemeClr val="tx1">
                  <a:lumMod val="75000"/>
                  <a:lumOff val="25000"/>
                </a:schemeClr>
              </a:solidFill>
            </a:endParaRPr>
          </a:p>
        </p:txBody>
      </p:sp>
    </p:spTree>
    <p:extLst>
      <p:ext uri="{BB962C8B-B14F-4D97-AF65-F5344CB8AC3E}">
        <p14:creationId xmlns:p14="http://schemas.microsoft.com/office/powerpoint/2010/main" val="711102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7"/>
          <p:cNvPicPr preferRelativeResize="0"/>
          <p:nvPr/>
        </p:nvPicPr>
        <p:blipFill>
          <a:blip r:embed="rId3"/>
          <a:srcRect t="7812" b="7812"/>
          <a:stretch/>
        </p:blipFill>
        <p:spPr>
          <a:xfrm>
            <a:off x="0" y="0"/>
            <a:ext cx="12192000" cy="6858001"/>
          </a:xfrm>
          <a:prstGeom prst="rect">
            <a:avLst/>
          </a:prstGeom>
          <a:noFill/>
          <a:ln>
            <a:noFill/>
          </a:ln>
        </p:spPr>
      </p:pic>
      <p:sp>
        <p:nvSpPr>
          <p:cNvPr id="157" name="Google Shape;157;p7"/>
          <p:cNvSpPr txBox="1">
            <a:spLocks noGrp="1"/>
          </p:cNvSpPr>
          <p:nvPr>
            <p:ph type="title"/>
          </p:nvPr>
        </p:nvSpPr>
        <p:spPr>
          <a:xfrm>
            <a:off x="533400" y="-697772"/>
            <a:ext cx="6168342" cy="1111073"/>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158" name="Google Shape;158;p7"/>
          <p:cNvSpPr/>
          <p:nvPr/>
        </p:nvSpPr>
        <p:spPr>
          <a:xfrm rot="10800000" flipH="1">
            <a:off x="338397" y="6250801"/>
            <a:ext cx="249297" cy="249297"/>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59" name="Google Shape;159;p7"/>
          <p:cNvSpPr txBox="1">
            <a:spLocks noGrp="1"/>
          </p:cNvSpPr>
          <p:nvPr>
            <p:ph type="sldNum" idx="12"/>
          </p:nvPr>
        </p:nvSpPr>
        <p:spPr>
          <a:xfrm>
            <a:off x="382895" y="6306200"/>
            <a:ext cx="160300" cy="138499"/>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9</a:t>
            </a:fld>
            <a:endParaRPr sz="900" b="0" i="0" u="none" strike="noStrike" cap="none">
              <a:solidFill>
                <a:srgbClr val="FFFFFF"/>
              </a:solidFill>
              <a:latin typeface="Poppins"/>
              <a:ea typeface="Poppins"/>
              <a:cs typeface="Poppins"/>
              <a:sym typeface="Poppins"/>
            </a:endParaRPr>
          </a:p>
        </p:txBody>
      </p:sp>
      <p:sp>
        <p:nvSpPr>
          <p:cNvPr id="160" name="Google Shape;160;p7"/>
          <p:cNvSpPr/>
          <p:nvPr/>
        </p:nvSpPr>
        <p:spPr>
          <a:xfrm>
            <a:off x="0" y="2547468"/>
            <a:ext cx="7222603" cy="2325473"/>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161" name="Google Shape;161;p7"/>
          <p:cNvSpPr txBox="1"/>
          <p:nvPr/>
        </p:nvSpPr>
        <p:spPr>
          <a:xfrm>
            <a:off x="533400" y="3704000"/>
            <a:ext cx="6168342" cy="66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3200" b="1" i="0" u="none" strike="noStrike" cap="none" dirty="0">
                <a:solidFill>
                  <a:srgbClr val="FFFFFF"/>
                </a:solidFill>
                <a:latin typeface="Poppins"/>
                <a:ea typeface="Poppins"/>
                <a:cs typeface="Poppins"/>
                <a:sym typeface="Poppins"/>
              </a:rPr>
              <a:t>Exploratory Data Analysis</a:t>
            </a:r>
            <a:endParaRPr sz="3200" b="0" i="0" u="none" strike="noStrike" cap="none" dirty="0">
              <a:solidFill>
                <a:srgbClr val="FFFFFF"/>
              </a:solidFill>
              <a:latin typeface="Poppins"/>
              <a:ea typeface="Poppins"/>
              <a:cs typeface="Poppins"/>
              <a:sym typeface="Poppins"/>
            </a:endParaRPr>
          </a:p>
        </p:txBody>
      </p:sp>
      <p:pic>
        <p:nvPicPr>
          <p:cNvPr id="162" name="Google Shape;162;p7"/>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3191148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10</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pic>
        <p:nvPicPr>
          <p:cNvPr id="12" name="Picture 11">
            <a:extLst>
              <a:ext uri="{FF2B5EF4-FFF2-40B4-BE49-F238E27FC236}">
                <a16:creationId xmlns:a16="http://schemas.microsoft.com/office/drawing/2014/main" id="{B3B08731-3CE6-4651-B7E0-95FE8D605950}"/>
              </a:ext>
            </a:extLst>
          </p:cNvPr>
          <p:cNvPicPr>
            <a:picLocks noChangeAspect="1"/>
          </p:cNvPicPr>
          <p:nvPr/>
        </p:nvPicPr>
        <p:blipFill>
          <a:blip r:embed="rId4"/>
          <a:stretch>
            <a:fillRect/>
          </a:stretch>
        </p:blipFill>
        <p:spPr>
          <a:xfrm>
            <a:off x="1281309" y="1359990"/>
            <a:ext cx="9045724" cy="4138019"/>
          </a:xfrm>
          <a:prstGeom prst="rect">
            <a:avLst/>
          </a:prstGeom>
        </p:spPr>
      </p:pic>
      <p:sp>
        <p:nvSpPr>
          <p:cNvPr id="13" name="TextBox 12">
            <a:extLst>
              <a:ext uri="{FF2B5EF4-FFF2-40B4-BE49-F238E27FC236}">
                <a16:creationId xmlns:a16="http://schemas.microsoft.com/office/drawing/2014/main" id="{3BF53811-D762-4915-B310-451A1A405693}"/>
              </a:ext>
            </a:extLst>
          </p:cNvPr>
          <p:cNvSpPr txBox="1"/>
          <p:nvPr/>
        </p:nvSpPr>
        <p:spPr>
          <a:xfrm>
            <a:off x="2800655" y="5711099"/>
            <a:ext cx="9045724" cy="830997"/>
          </a:xfrm>
          <a:prstGeom prst="rect">
            <a:avLst/>
          </a:prstGeom>
          <a:solidFill>
            <a:srgbClr val="FFFFFF"/>
          </a:solidFill>
        </p:spPr>
        <p:txBody>
          <a:bodyPr wrap="square" rtlCol="0">
            <a:spAutoFit/>
          </a:bodyPr>
          <a:lstStyle/>
          <a:p>
            <a:r>
              <a:rPr lang="en-GB" sz="1600" dirty="0">
                <a:solidFill>
                  <a:schemeClr val="tx1">
                    <a:lumMod val="75000"/>
                    <a:lumOff val="25000"/>
                  </a:schemeClr>
                </a:solidFill>
                <a:effectLst/>
                <a:latin typeface="Poppins" panose="020B0604020202020204" charset="0"/>
                <a:cs typeface="Poppins" panose="020B0604020202020204" charset="0"/>
              </a:rPr>
              <a:t>Sales, products, budgets, customers, regions, and states were spread across unlinked tables. No relationships were defined initially— Pre-processing was required to clean, normalize, and join them for analysis.</a:t>
            </a:r>
            <a:endParaRPr lang="en-IN" sz="1600" dirty="0">
              <a:solidFill>
                <a:schemeClr val="tx1">
                  <a:lumMod val="75000"/>
                  <a:lumOff val="25000"/>
                </a:schemeClr>
              </a:solidFill>
              <a:latin typeface="Poppins" panose="020B0604020202020204" charset="0"/>
              <a:cs typeface="Poppins" panose="020B0604020202020204" charset="0"/>
            </a:endParaRPr>
          </a:p>
        </p:txBody>
      </p:sp>
      <p:sp>
        <p:nvSpPr>
          <p:cNvPr id="11" name="Google Shape;147;p2">
            <a:extLst>
              <a:ext uri="{FF2B5EF4-FFF2-40B4-BE49-F238E27FC236}">
                <a16:creationId xmlns:a16="http://schemas.microsoft.com/office/drawing/2014/main" id="{B1F4B852-2969-48F3-9E37-051C3C50B6B8}"/>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Raw Dataset Structure  –  Before Processing</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660343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95AFDF18-485D-46A1-A1EF-410FA1BE1A28}"/>
              </a:ext>
            </a:extLst>
          </p:cNvPr>
          <p:cNvSpPr/>
          <p:nvPr/>
        </p:nvSpPr>
        <p:spPr>
          <a:xfrm>
            <a:off x="142240" y="160474"/>
            <a:ext cx="11783242" cy="2139361"/>
          </a:xfrm>
          <a:prstGeom prst="roundRect">
            <a:avLst/>
          </a:prstGeom>
          <a:solidFill>
            <a:schemeClr val="tx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11</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0" name="Google Shape;147;p2">
            <a:extLst>
              <a:ext uri="{FF2B5EF4-FFF2-40B4-BE49-F238E27FC236}">
                <a16:creationId xmlns:a16="http://schemas.microsoft.com/office/drawing/2014/main" id="{75D9E483-387E-4AB4-8B25-7F7D37FCFB41}"/>
              </a:ext>
            </a:extLst>
          </p:cNvPr>
          <p:cNvSpPr txBox="1">
            <a:spLocks/>
          </p:cNvSpPr>
          <p:nvPr/>
        </p:nvSpPr>
        <p:spPr>
          <a:xfrm>
            <a:off x="463044" y="421813"/>
            <a:ext cx="7899906"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rPr>
              <a:t>Exploratory Data Analysis (EDA)</a:t>
            </a:r>
            <a:endParaRPr lang="en-US" sz="3200" dirty="0">
              <a:solidFill>
                <a:schemeClr val="tx1">
                  <a:lumMod val="75000"/>
                  <a:lumOff val="25000"/>
                </a:schemeClr>
              </a:solidFill>
            </a:endParaRPr>
          </a:p>
        </p:txBody>
      </p:sp>
      <p:sp>
        <p:nvSpPr>
          <p:cNvPr id="15" name="TextBox 14">
            <a:extLst>
              <a:ext uri="{FF2B5EF4-FFF2-40B4-BE49-F238E27FC236}">
                <a16:creationId xmlns:a16="http://schemas.microsoft.com/office/drawing/2014/main" id="{AE146086-361F-4C62-80E9-CA1C908EADA9}"/>
              </a:ext>
            </a:extLst>
          </p:cNvPr>
          <p:cNvSpPr txBox="1"/>
          <p:nvPr/>
        </p:nvSpPr>
        <p:spPr>
          <a:xfrm>
            <a:off x="382895" y="1191547"/>
            <a:ext cx="10889184" cy="830997"/>
          </a:xfrm>
          <a:prstGeom prst="rect">
            <a:avLst/>
          </a:prstGeom>
          <a:noFill/>
        </p:spPr>
        <p:txBody>
          <a:bodyPr wrap="square">
            <a:spAutoFit/>
          </a:bodyPr>
          <a:lstStyle/>
          <a:p>
            <a:r>
              <a:rPr lang="en-GB" sz="2400" dirty="0">
                <a:solidFill>
                  <a:schemeClr val="tx1">
                    <a:lumMod val="75000"/>
                    <a:lumOff val="25000"/>
                  </a:schemeClr>
                </a:solidFill>
                <a:effectLst/>
                <a:latin typeface="Poppins" panose="020B0604020202020204" charset="0"/>
                <a:cs typeface="Poppins" panose="020B0604020202020204" charset="0"/>
              </a:rPr>
              <a:t>Uncovering patterns, trends, and business insights from historical data !</a:t>
            </a:r>
            <a:endParaRPr lang="en-IN" sz="2400" dirty="0">
              <a:solidFill>
                <a:schemeClr val="tx1">
                  <a:lumMod val="75000"/>
                  <a:lumOff val="25000"/>
                </a:schemeClr>
              </a:solidFill>
              <a:latin typeface="Poppins" panose="020B0604020202020204" charset="0"/>
              <a:cs typeface="Poppins" panose="020B0604020202020204" charset="0"/>
            </a:endParaRPr>
          </a:p>
        </p:txBody>
      </p:sp>
      <p:sp>
        <p:nvSpPr>
          <p:cNvPr id="16" name="TextBox 15">
            <a:extLst>
              <a:ext uri="{FF2B5EF4-FFF2-40B4-BE49-F238E27FC236}">
                <a16:creationId xmlns:a16="http://schemas.microsoft.com/office/drawing/2014/main" id="{6C8C1E92-F7B3-45B0-A62C-A44E0F03A3E8}"/>
              </a:ext>
            </a:extLst>
          </p:cNvPr>
          <p:cNvSpPr txBox="1"/>
          <p:nvPr/>
        </p:nvSpPr>
        <p:spPr>
          <a:xfrm>
            <a:off x="1026160" y="3221872"/>
            <a:ext cx="8920480" cy="1631216"/>
          </a:xfrm>
          <a:prstGeom prst="rect">
            <a:avLst/>
          </a:prstGeom>
          <a:noFill/>
        </p:spPr>
        <p:txBody>
          <a:bodyPr wrap="square" rtlCol="0">
            <a:spAutoFit/>
          </a:bodyPr>
          <a:lstStyle/>
          <a:p>
            <a:r>
              <a:rPr lang="en-GB" sz="2000" dirty="0">
                <a:effectLst/>
                <a:latin typeface="Poppins" panose="020B0604020202020204" charset="0"/>
                <a:cs typeface="Poppins" panose="020B0604020202020204" charset="0"/>
              </a:rPr>
              <a:t>Understanding the “What, Where &amp; Why” behind the sales numbers</a:t>
            </a:r>
          </a:p>
          <a:p>
            <a:r>
              <a:rPr lang="en-GB" sz="2000" dirty="0">
                <a:effectLst/>
                <a:latin typeface="Poppins" panose="020B0604020202020204" charset="0"/>
                <a:cs typeface="Poppins" panose="020B0604020202020204" charset="0"/>
              </a:rPr>
              <a:t/>
            </a:r>
            <a:br>
              <a:rPr lang="en-GB" sz="2000" dirty="0">
                <a:effectLst/>
                <a:latin typeface="Poppins" panose="020B0604020202020204" charset="0"/>
                <a:cs typeface="Poppins" panose="020B0604020202020204" charset="0"/>
              </a:rPr>
            </a:br>
            <a:r>
              <a:rPr lang="en-GB" sz="2000" dirty="0">
                <a:effectLst/>
                <a:latin typeface="Poppins" panose="020B0604020202020204" charset="0"/>
                <a:cs typeface="Poppins" panose="020B0604020202020204" charset="0"/>
              </a:rPr>
              <a:t>Exploring data through visuals, aggregations, and comparisons</a:t>
            </a:r>
            <a:br>
              <a:rPr lang="en-GB" sz="2000" dirty="0">
                <a:effectLst/>
                <a:latin typeface="Poppins" panose="020B0604020202020204" charset="0"/>
                <a:cs typeface="Poppins" panose="020B0604020202020204" charset="0"/>
              </a:rPr>
            </a:br>
            <a:endParaRPr lang="en-GB" sz="2000" dirty="0">
              <a:effectLst/>
              <a:latin typeface="Poppins" panose="020B0604020202020204" charset="0"/>
              <a:cs typeface="Poppins" panose="020B0604020202020204" charset="0"/>
            </a:endParaRPr>
          </a:p>
          <a:p>
            <a:r>
              <a:rPr lang="en-GB" sz="2000" dirty="0">
                <a:effectLst/>
                <a:latin typeface="Poppins" panose="020B0604020202020204" charset="0"/>
                <a:cs typeface="Poppins" panose="020B0604020202020204" charset="0"/>
              </a:rPr>
              <a:t>Laying the groundwork for informed recommendations</a:t>
            </a:r>
            <a:endParaRPr lang="en-IN" sz="2000" dirty="0">
              <a:latin typeface="Poppins" panose="020B0604020202020204" charset="0"/>
              <a:cs typeface="Poppins" panose="020B0604020202020204" charset="0"/>
            </a:endParaRPr>
          </a:p>
        </p:txBody>
      </p:sp>
      <p:sp>
        <p:nvSpPr>
          <p:cNvPr id="3" name="Rectangle 2">
            <a:extLst>
              <a:ext uri="{FF2B5EF4-FFF2-40B4-BE49-F238E27FC236}">
                <a16:creationId xmlns:a16="http://schemas.microsoft.com/office/drawing/2014/main" id="{A645E018-D73C-4171-B9DE-0D4706E0971B}"/>
              </a:ext>
            </a:extLst>
          </p:cNvPr>
          <p:cNvSpPr/>
          <p:nvPr/>
        </p:nvSpPr>
        <p:spPr>
          <a:xfrm>
            <a:off x="10389140" y="6021421"/>
            <a:ext cx="1663430" cy="5933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6EE74188-77DA-4BBC-874D-E9DE7066B856}"/>
              </a:ext>
            </a:extLst>
          </p:cNvPr>
          <p:cNvPicPr>
            <a:picLocks noChangeAspect="1"/>
          </p:cNvPicPr>
          <p:nvPr/>
        </p:nvPicPr>
        <p:blipFill>
          <a:blip r:embed="rId4"/>
          <a:stretch>
            <a:fillRect/>
          </a:stretch>
        </p:blipFill>
        <p:spPr>
          <a:xfrm>
            <a:off x="9688057" y="5905007"/>
            <a:ext cx="2364514" cy="587867"/>
          </a:xfrm>
          <a:prstGeom prst="rect">
            <a:avLst/>
          </a:prstGeom>
        </p:spPr>
      </p:pic>
    </p:spTree>
    <p:extLst>
      <p:ext uri="{BB962C8B-B14F-4D97-AF65-F5344CB8AC3E}">
        <p14:creationId xmlns:p14="http://schemas.microsoft.com/office/powerpoint/2010/main" val="975884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12</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id="{4648846D-202E-4245-8F7A-05AC1D7CCF2D}"/>
              </a:ext>
            </a:extLst>
          </p:cNvPr>
          <p:cNvSpPr txBox="1"/>
          <p:nvPr/>
        </p:nvSpPr>
        <p:spPr>
          <a:xfrm>
            <a:off x="1964988" y="1745013"/>
            <a:ext cx="4173165" cy="4327215"/>
          </a:xfrm>
          <a:prstGeom prst="rect">
            <a:avLst/>
          </a:prstGeom>
          <a:noFill/>
        </p:spPr>
        <p:txBody>
          <a:bodyPr wrap="square">
            <a:spAutoFit/>
          </a:bodyPr>
          <a:lstStyle/>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Import Libraries</a:t>
            </a:r>
          </a:p>
          <a:p>
            <a:pPr marL="285750" indent="-285750">
              <a:buFont typeface="Arial" panose="020B0604020202020204" pitchFamily="34" charset="0"/>
              <a:buChar char="•"/>
            </a:pPr>
            <a:endParaRPr lang="en-GB" sz="1800" dirty="0">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Load Data</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Initial Exploration</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Pre-processing &amp; Cleaning</a:t>
            </a:r>
          </a:p>
          <a:p>
            <a:pPr marL="285750" indent="-285750">
              <a:buFont typeface="Arial" panose="020B0604020202020204" pitchFamily="34" charset="0"/>
              <a:buChar char="•"/>
            </a:pPr>
            <a:endParaRPr lang="en-GB" sz="1800" dirty="0">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Feature Engineering</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EDA &amp; Visualization</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Key Insights</a:t>
            </a:r>
          </a:p>
          <a:p>
            <a:pPr marL="285750" indent="-285750">
              <a:buFont typeface="Arial" panose="020B0604020202020204" pitchFamily="34" charset="0"/>
              <a:buChar char="•"/>
            </a:pPr>
            <a:endParaRPr lang="en-GB" sz="1800" dirty="0">
              <a:effectLst/>
              <a:latin typeface="Poppins" panose="020B0604020202020204" charset="0"/>
              <a:cs typeface="Poppins" panose="020B0604020202020204" charset="0"/>
            </a:endParaRPr>
          </a:p>
          <a:p>
            <a:pPr marL="285750" indent="-285750">
              <a:buFont typeface="Arial" panose="020B0604020202020204" pitchFamily="34" charset="0"/>
              <a:buChar char="•"/>
            </a:pPr>
            <a:r>
              <a:rPr lang="en-GB" sz="1800" dirty="0">
                <a:effectLst/>
                <a:latin typeface="Poppins" panose="020B0604020202020204" charset="0"/>
                <a:cs typeface="Poppins" panose="020B0604020202020204" charset="0"/>
              </a:rPr>
              <a:t>Recommendations</a:t>
            </a:r>
            <a:endParaRPr lang="en-IN" sz="1800" dirty="0">
              <a:latin typeface="Poppins" panose="020B0604020202020204" charset="0"/>
              <a:cs typeface="Poppins" panose="020B0604020202020204" charset="0"/>
            </a:endParaRPr>
          </a:p>
        </p:txBody>
      </p:sp>
      <p:sp>
        <p:nvSpPr>
          <p:cNvPr id="13" name="Google Shape;147;p2">
            <a:extLst>
              <a:ext uri="{FF2B5EF4-FFF2-40B4-BE49-F238E27FC236}">
                <a16:creationId xmlns:a16="http://schemas.microsoft.com/office/drawing/2014/main" id="{BF34FB7D-0F60-49E3-91BC-CB2D4866555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EDA: Step‑by‑Step Process</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2670250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13</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7" name="TextBox 16">
            <a:extLst>
              <a:ext uri="{FF2B5EF4-FFF2-40B4-BE49-F238E27FC236}">
                <a16:creationId xmlns:a16="http://schemas.microsoft.com/office/drawing/2014/main" id="{4648846D-202E-4245-8F7A-05AC1D7CCF2D}"/>
              </a:ext>
            </a:extLst>
          </p:cNvPr>
          <p:cNvSpPr txBox="1"/>
          <p:nvPr/>
        </p:nvSpPr>
        <p:spPr>
          <a:xfrm>
            <a:off x="2042809" y="2280033"/>
            <a:ext cx="7733489" cy="3293209"/>
          </a:xfrm>
          <a:prstGeom prst="rect">
            <a:avLst/>
          </a:prstGeom>
          <a:noFill/>
        </p:spPr>
        <p:txBody>
          <a:bodyPr wrap="square">
            <a:spAutoFit/>
          </a:bodyPr>
          <a:lstStyle/>
          <a:p>
            <a:pPr marL="285750" indent="-285750">
              <a:buFont typeface="Arial" panose="020B0604020202020204" pitchFamily="34" charset="0"/>
              <a:buChar char="•"/>
            </a:pPr>
            <a:r>
              <a:rPr lang="en-IN" sz="1600" dirty="0">
                <a:effectLst/>
              </a:rPr>
              <a:t>Set header row for state – region table</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Merge Sales, Customers, Products, Regions, State–Region &amp; Budgets tables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Drop redundant columns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Standardize column names to lowercase</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Select key columns that are used for that analysis</a:t>
            </a:r>
            <a:br>
              <a:rPr lang="en-IN" sz="1600" dirty="0">
                <a:effectLst/>
              </a:rPr>
            </a:br>
            <a:endParaRPr lang="en-IN" sz="1600" dirty="0">
              <a:effectLst/>
            </a:endParaRPr>
          </a:p>
          <a:p>
            <a:pPr marL="285750" indent="-285750">
              <a:buFont typeface="Arial" panose="020B0604020202020204" pitchFamily="34" charset="0"/>
              <a:buChar char="•"/>
            </a:pPr>
            <a:r>
              <a:rPr lang="en-IN" sz="1600" dirty="0">
                <a:effectLst/>
              </a:rPr>
              <a:t>Rename columns to more sensible names</a:t>
            </a:r>
            <a:br>
              <a:rPr lang="en-IN" sz="1600" dirty="0">
                <a:effectLst/>
              </a:rPr>
            </a:br>
            <a:endParaRPr lang="en-IN" sz="1600" dirty="0">
              <a:effectLst/>
            </a:endParaRPr>
          </a:p>
          <a:p>
            <a:pPr marL="285750" indent="-285750">
              <a:buFont typeface="Arial" panose="020B0604020202020204" pitchFamily="34" charset="0"/>
              <a:buChar char="•"/>
            </a:pPr>
            <a:r>
              <a:rPr lang="en-IN" sz="1600" dirty="0"/>
              <a:t>Create</a:t>
            </a:r>
            <a:r>
              <a:rPr lang="en-IN" sz="1600" dirty="0">
                <a:effectLst/>
              </a:rPr>
              <a:t> profit and profit_margin_pct columns</a:t>
            </a:r>
          </a:p>
        </p:txBody>
      </p:sp>
      <p:sp>
        <p:nvSpPr>
          <p:cNvPr id="3" name="TextBox 2">
            <a:extLst>
              <a:ext uri="{FF2B5EF4-FFF2-40B4-BE49-F238E27FC236}">
                <a16:creationId xmlns:a16="http://schemas.microsoft.com/office/drawing/2014/main" id="{D11DD7E1-D735-401F-B218-8ED3B48C65A2}"/>
              </a:ext>
            </a:extLst>
          </p:cNvPr>
          <p:cNvSpPr txBox="1"/>
          <p:nvPr/>
        </p:nvSpPr>
        <p:spPr>
          <a:xfrm>
            <a:off x="1583954" y="5797685"/>
            <a:ext cx="9816863" cy="338554"/>
          </a:xfrm>
          <a:prstGeom prst="rect">
            <a:avLst/>
          </a:prstGeom>
          <a:noFill/>
        </p:spPr>
        <p:txBody>
          <a:bodyPr wrap="square" rtlCol="0">
            <a:spAutoFit/>
          </a:bodyPr>
          <a:lstStyle/>
          <a:p>
            <a:r>
              <a:rPr lang="en-GB" sz="1600" i="1" dirty="0"/>
              <a:t>✅ Note: No missing values or duplicate rows were found in the dataset</a:t>
            </a:r>
            <a:endParaRPr lang="en-IN" sz="1600" i="1" dirty="0"/>
          </a:p>
        </p:txBody>
      </p:sp>
      <p:sp>
        <p:nvSpPr>
          <p:cNvPr id="7" name="TextBox 6">
            <a:extLst>
              <a:ext uri="{FF2B5EF4-FFF2-40B4-BE49-F238E27FC236}">
                <a16:creationId xmlns:a16="http://schemas.microsoft.com/office/drawing/2014/main" id="{591D0D7A-30A2-4E0A-9555-F4FA0E347005}"/>
              </a:ext>
            </a:extLst>
          </p:cNvPr>
          <p:cNvSpPr txBox="1"/>
          <p:nvPr/>
        </p:nvSpPr>
        <p:spPr>
          <a:xfrm>
            <a:off x="1226950" y="1374198"/>
            <a:ext cx="6020156" cy="338554"/>
          </a:xfrm>
          <a:prstGeom prst="rect">
            <a:avLst/>
          </a:prstGeom>
          <a:noFill/>
        </p:spPr>
        <p:txBody>
          <a:bodyPr wrap="square" rtlCol="0">
            <a:spAutoFit/>
          </a:bodyPr>
          <a:lstStyle/>
          <a:p>
            <a:r>
              <a:rPr lang="en-GB" sz="1600" dirty="0"/>
              <a:t>The necessary steps applied to prepare this dataset for analysis</a:t>
            </a:r>
            <a:r>
              <a:rPr lang="en-GB" sz="1600" b="1" dirty="0"/>
              <a:t>.</a:t>
            </a:r>
            <a:endParaRPr lang="en-IN" sz="1600" b="1" dirty="0"/>
          </a:p>
        </p:txBody>
      </p:sp>
      <p:sp>
        <p:nvSpPr>
          <p:cNvPr id="19" name="TextBox 18">
            <a:extLst>
              <a:ext uri="{FF2B5EF4-FFF2-40B4-BE49-F238E27FC236}">
                <a16:creationId xmlns:a16="http://schemas.microsoft.com/office/drawing/2014/main"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sp>
        <p:nvSpPr>
          <p:cNvPr id="18" name="Google Shape;147;p2">
            <a:extLst>
              <a:ext uri="{FF2B5EF4-FFF2-40B4-BE49-F238E27FC236}">
                <a16:creationId xmlns:a16="http://schemas.microsoft.com/office/drawing/2014/main" id="{164D8012-48E1-47CE-B8A2-61048138E9C1}"/>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dirty="0">
                <a:solidFill>
                  <a:schemeClr val="tx1">
                    <a:lumMod val="75000"/>
                    <a:lumOff val="25000"/>
                  </a:schemeClr>
                </a:solidFill>
                <a:latin typeface="Poppins" panose="020B0604020202020204" charset="0"/>
                <a:cs typeface="Poppins" panose="020B0604020202020204" charset="0"/>
              </a:rPr>
              <a:t>Pre-processing &amp; Feature Engineering </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38405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g21197e7cf6e_0_3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14</a:t>
            </a:fld>
            <a:endParaRPr sz="900" b="0" i="0" u="none" strike="noStrike" cap="none" dirty="0">
              <a:solidFill>
                <a:srgbClr val="FFFFFF"/>
              </a:solidFill>
              <a:latin typeface="Poppins"/>
              <a:ea typeface="Poppins"/>
              <a:cs typeface="Poppins"/>
              <a:sym typeface="Poppins"/>
            </a:endParaRPr>
          </a:p>
        </p:txBody>
      </p:sp>
      <p:pic>
        <p:nvPicPr>
          <p:cNvPr id="198" name="Google Shape;198;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pic>
        <p:nvPicPr>
          <p:cNvPr id="202" name="Google Shape;202;g21197e7cf6e_0_3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4" name="Rectangle 3">
            <a:extLst>
              <a:ext uri="{FF2B5EF4-FFF2-40B4-BE49-F238E27FC236}">
                <a16:creationId xmlns:a16="http://schemas.microsoft.com/office/drawing/2014/main" id="{87B44CD5-92C3-4154-92CF-3B0B044CA17E}"/>
              </a:ext>
            </a:extLst>
          </p:cNvPr>
          <p:cNvSpPr/>
          <p:nvPr/>
        </p:nvSpPr>
        <p:spPr>
          <a:xfrm>
            <a:off x="5029200" y="6258025"/>
            <a:ext cx="2217906" cy="2348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210C64C4-D133-419F-9503-04E3CCA88496}"/>
              </a:ext>
            </a:extLst>
          </p:cNvPr>
          <p:cNvSpPr/>
          <p:nvPr/>
        </p:nvSpPr>
        <p:spPr>
          <a:xfrm>
            <a:off x="10680519" y="6154546"/>
            <a:ext cx="1511481" cy="441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B1270739-08BC-41D6-AFA3-2A6DCA081F5A}"/>
              </a:ext>
            </a:extLst>
          </p:cNvPr>
          <p:cNvSpPr txBox="1"/>
          <p:nvPr/>
        </p:nvSpPr>
        <p:spPr>
          <a:xfrm>
            <a:off x="3048000" y="3275112"/>
            <a:ext cx="6096000" cy="307777"/>
          </a:xfrm>
          <a:prstGeom prst="rect">
            <a:avLst/>
          </a:prstGeom>
          <a:noFill/>
        </p:spPr>
        <p:txBody>
          <a:bodyPr wrap="square">
            <a:spAutoFit/>
          </a:bodyPr>
          <a:lstStyle/>
          <a:p>
            <a:endParaRPr lang="en-IN" dirty="0"/>
          </a:p>
        </p:txBody>
      </p:sp>
      <p:sp>
        <p:nvSpPr>
          <p:cNvPr id="19" name="TextBox 18">
            <a:extLst>
              <a:ext uri="{FF2B5EF4-FFF2-40B4-BE49-F238E27FC236}">
                <a16:creationId xmlns:a16="http://schemas.microsoft.com/office/drawing/2014/main" id="{CE5C3447-D9FC-4784-B547-776ABE921A38}"/>
              </a:ext>
            </a:extLst>
          </p:cNvPr>
          <p:cNvSpPr txBox="1"/>
          <p:nvPr/>
        </p:nvSpPr>
        <p:spPr>
          <a:xfrm>
            <a:off x="3047189" y="3275112"/>
            <a:ext cx="6094378" cy="307777"/>
          </a:xfrm>
          <a:prstGeom prst="rect">
            <a:avLst/>
          </a:prstGeom>
          <a:noFill/>
        </p:spPr>
        <p:txBody>
          <a:bodyPr wrap="square">
            <a:spAutoFit/>
          </a:bodyPr>
          <a:lstStyle/>
          <a:p>
            <a:endParaRPr lang="en-IN" dirty="0"/>
          </a:p>
        </p:txBody>
      </p:sp>
      <p:pic>
        <p:nvPicPr>
          <p:cNvPr id="5" name="Picture 4">
            <a:extLst>
              <a:ext uri="{FF2B5EF4-FFF2-40B4-BE49-F238E27FC236}">
                <a16:creationId xmlns:a16="http://schemas.microsoft.com/office/drawing/2014/main" id="{CAC7916F-C962-4BB7-BE29-E790E41601C6}"/>
              </a:ext>
            </a:extLst>
          </p:cNvPr>
          <p:cNvPicPr>
            <a:picLocks noChangeAspect="1"/>
          </p:cNvPicPr>
          <p:nvPr/>
        </p:nvPicPr>
        <p:blipFill>
          <a:blip r:embed="rId4"/>
          <a:stretch>
            <a:fillRect/>
          </a:stretch>
        </p:blipFill>
        <p:spPr>
          <a:xfrm>
            <a:off x="115905" y="1944080"/>
            <a:ext cx="11945566" cy="1484920"/>
          </a:xfrm>
          <a:prstGeom prst="rect">
            <a:avLst/>
          </a:prstGeom>
        </p:spPr>
      </p:pic>
      <p:sp>
        <p:nvSpPr>
          <p:cNvPr id="6" name="TextBox 5">
            <a:extLst>
              <a:ext uri="{FF2B5EF4-FFF2-40B4-BE49-F238E27FC236}">
                <a16:creationId xmlns:a16="http://schemas.microsoft.com/office/drawing/2014/main" id="{0A627856-E5B0-45A8-9BC7-DEE02FEFB7BE}"/>
              </a:ext>
            </a:extLst>
          </p:cNvPr>
          <p:cNvSpPr txBox="1"/>
          <p:nvPr/>
        </p:nvSpPr>
        <p:spPr>
          <a:xfrm>
            <a:off x="1507786" y="4124529"/>
            <a:ext cx="9756843" cy="2554545"/>
          </a:xfrm>
          <a:prstGeom prst="rect">
            <a:avLst/>
          </a:prstGeom>
          <a:noFill/>
        </p:spPr>
        <p:txBody>
          <a:bodyPr wrap="square" rtlCol="0">
            <a:spAutoFit/>
          </a:bodyPr>
          <a:lstStyle/>
          <a:p>
            <a:r>
              <a:rPr lang="en-GB" sz="1600" dirty="0">
                <a:effectLst/>
                <a:latin typeface="Poppins" panose="020B0604020202020204" charset="0"/>
                <a:cs typeface="Poppins" panose="020B0604020202020204" charset="0"/>
              </a:rPr>
              <a:t>Identifiers: order_number, order_date, customer_name, channel, </a:t>
            </a:r>
            <a:r>
              <a:rPr lang="en-GB" sz="1600" dirty="0" err="1">
                <a:effectLst/>
                <a:latin typeface="Poppins" panose="020B0604020202020204" charset="0"/>
                <a:cs typeface="Poppins" panose="020B0604020202020204" charset="0"/>
              </a:rPr>
              <a:t>product_name</a:t>
            </a:r>
            <a:r>
              <a:rPr lang="en-GB" sz="1600" dirty="0">
                <a:effectLst/>
                <a:latin typeface="Poppins" panose="020B0604020202020204" charset="0"/>
                <a:cs typeface="Poppins" panose="020B0604020202020204" charset="0"/>
              </a:rPr>
              <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Financials: quantity, unit_price, revenue, cost, profit, </a:t>
            </a:r>
            <a:r>
              <a:rPr lang="en-GB" sz="1600" dirty="0" err="1">
                <a:effectLst/>
                <a:latin typeface="Poppins" panose="020B0604020202020204" charset="0"/>
                <a:cs typeface="Poppins" panose="020B0604020202020204" charset="0"/>
              </a:rPr>
              <a:t>profit_margin_pct</a:t>
            </a:r>
            <a:endParaRPr lang="en-GB" sz="1600" dirty="0">
              <a:effectLst/>
              <a:latin typeface="Poppins" panose="020B0604020202020204" charset="0"/>
              <a:cs typeface="Poppins" panose="020B0604020202020204" charset="0"/>
            </a:endParaRPr>
          </a:p>
          <a:p>
            <a:endParaRPr lang="en-GB" sz="1600" dirty="0">
              <a:effectLst/>
              <a:latin typeface="Poppins" panose="020B0604020202020204" charset="0"/>
              <a:cs typeface="Poppins" panose="020B0604020202020204" charset="0"/>
            </a:endParaRPr>
          </a:p>
          <a:p>
            <a:r>
              <a:rPr lang="en-GB" sz="1600" dirty="0">
                <a:latin typeface="Poppins" panose="020B0604020202020204" charset="0"/>
                <a:cs typeface="Poppins" panose="020B0604020202020204" charset="0"/>
              </a:rPr>
              <a:t>Calendar:  </a:t>
            </a:r>
            <a:r>
              <a:rPr lang="en-GB" sz="1600" dirty="0" err="1">
                <a:latin typeface="Poppins" panose="020B0604020202020204" charset="0"/>
                <a:cs typeface="Poppins" panose="020B0604020202020204" charset="0"/>
              </a:rPr>
              <a:t>order_month_name</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order_month_num</a:t>
            </a:r>
            <a:r>
              <a:rPr lang="en-GB" sz="1600" dirty="0">
                <a:latin typeface="Poppins" panose="020B0604020202020204" charset="0"/>
                <a:cs typeface="Poppins" panose="020B0604020202020204" charset="0"/>
              </a:rPr>
              <a:t>, </a:t>
            </a:r>
            <a:r>
              <a:rPr lang="en-GB" sz="1600" dirty="0" err="1">
                <a:latin typeface="Poppins" panose="020B0604020202020204" charset="0"/>
                <a:cs typeface="Poppins" panose="020B0604020202020204" charset="0"/>
              </a:rPr>
              <a:t>order_month</a:t>
            </a:r>
            <a:endParaRPr lang="en-IN" sz="1600" dirty="0">
              <a:latin typeface="Poppins" panose="020B0604020202020204" charset="0"/>
              <a:cs typeface="Poppins" panose="020B0604020202020204" charset="0"/>
            </a:endParaRPr>
          </a:p>
          <a:p>
            <a:r>
              <a:rPr lang="en-GB" sz="1600" dirty="0">
                <a:effectLst/>
                <a:latin typeface="Poppins" panose="020B0604020202020204" charset="0"/>
                <a:cs typeface="Poppins" panose="020B0604020202020204" charset="0"/>
              </a:rPr>
              <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Geography: state (code), </a:t>
            </a:r>
            <a:r>
              <a:rPr lang="en-GB" sz="1600" dirty="0" err="1">
                <a:effectLst/>
                <a:latin typeface="Poppins" panose="020B0604020202020204" charset="0"/>
                <a:cs typeface="Poppins" panose="020B0604020202020204" charset="0"/>
              </a:rPr>
              <a:t>state_name</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us_region</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lat</a:t>
            </a:r>
            <a:r>
              <a:rPr lang="en-GB" sz="1600" dirty="0">
                <a:effectLst/>
                <a:latin typeface="Poppins" panose="020B0604020202020204" charset="0"/>
                <a:cs typeface="Poppins" panose="020B0604020202020204" charset="0"/>
              </a:rPr>
              <a:t>, </a:t>
            </a:r>
            <a:r>
              <a:rPr lang="en-GB" sz="1600" dirty="0" err="1">
                <a:effectLst/>
                <a:latin typeface="Poppins" panose="020B0604020202020204" charset="0"/>
                <a:cs typeface="Poppins" panose="020B0604020202020204" charset="0"/>
              </a:rPr>
              <a:t>lon</a:t>
            </a:r>
            <a:r>
              <a:rPr lang="en-GB" sz="1600" dirty="0">
                <a:effectLst/>
                <a:latin typeface="Poppins" panose="020B0604020202020204" charset="0"/>
                <a:cs typeface="Poppins" panose="020B0604020202020204" charset="0"/>
              </a:rPr>
              <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
            </a:r>
            <a:br>
              <a:rPr lang="en-GB" sz="1600" dirty="0">
                <a:effectLst/>
                <a:latin typeface="Poppins" panose="020B0604020202020204" charset="0"/>
                <a:cs typeface="Poppins" panose="020B0604020202020204" charset="0"/>
              </a:rPr>
            </a:br>
            <a:r>
              <a:rPr lang="en-GB" sz="1600" dirty="0">
                <a:effectLst/>
                <a:latin typeface="Poppins" panose="020B0604020202020204" charset="0"/>
                <a:cs typeface="Poppins" panose="020B0604020202020204" charset="0"/>
              </a:rPr>
              <a:t>Planning: budget (2017)</a:t>
            </a:r>
          </a:p>
          <a:p>
            <a:endParaRPr lang="en-GB" sz="1600" dirty="0">
              <a:latin typeface="Poppins" panose="020B0604020202020204" charset="0"/>
              <a:cs typeface="Poppins" panose="020B0604020202020204" charset="0"/>
            </a:endParaRPr>
          </a:p>
        </p:txBody>
      </p:sp>
      <p:sp>
        <p:nvSpPr>
          <p:cNvPr id="12" name="Google Shape;147;p2">
            <a:extLst>
              <a:ext uri="{FF2B5EF4-FFF2-40B4-BE49-F238E27FC236}">
                <a16:creationId xmlns:a16="http://schemas.microsoft.com/office/drawing/2014/main" id="{E3929227-E3EB-4B33-86BC-AAE4BD37EC3D}"/>
              </a:ext>
            </a:extLst>
          </p:cNvPr>
          <p:cNvSpPr txBox="1">
            <a:spLocks/>
          </p:cNvSpPr>
          <p:nvPr/>
        </p:nvSpPr>
        <p:spPr>
          <a:xfrm>
            <a:off x="463043" y="421813"/>
            <a:ext cx="10014457" cy="49244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200" dirty="0">
                <a:solidFill>
                  <a:schemeClr val="tx1">
                    <a:lumMod val="75000"/>
                    <a:lumOff val="25000"/>
                  </a:schemeClr>
                </a:solidFill>
              </a:rPr>
              <a:t>Final Dataset Structure – Ready for Analysis</a:t>
            </a:r>
            <a:endParaRPr lang="en-US" sz="3200" dirty="0">
              <a:solidFill>
                <a:schemeClr val="tx1">
                  <a:lumMod val="75000"/>
                  <a:lumOff val="25000"/>
                </a:schemeClr>
              </a:solidFill>
            </a:endParaRPr>
          </a:p>
        </p:txBody>
      </p:sp>
    </p:spTree>
    <p:extLst>
      <p:ext uri="{BB962C8B-B14F-4D97-AF65-F5344CB8AC3E}">
        <p14:creationId xmlns:p14="http://schemas.microsoft.com/office/powerpoint/2010/main" val="1255263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pic>
        <p:nvPicPr>
          <p:cNvPr id="237" name="Google Shape;237;g21197e7cf6e_0_75"/>
          <p:cNvPicPr preferRelativeResize="0"/>
          <p:nvPr/>
        </p:nvPicPr>
        <p:blipFill rotWithShape="1">
          <a:blip r:embed="rId3">
            <a:alphaModFix/>
          </a:blip>
          <a:srcRect t="7834" b="7833"/>
          <a:stretch/>
        </p:blipFill>
        <p:spPr>
          <a:xfrm>
            <a:off x="0" y="0"/>
            <a:ext cx="12192000" cy="6858001"/>
          </a:xfrm>
          <a:prstGeom prst="rect">
            <a:avLst/>
          </a:prstGeom>
          <a:noFill/>
          <a:ln>
            <a:noFill/>
          </a:ln>
        </p:spPr>
      </p:pic>
      <p:sp>
        <p:nvSpPr>
          <p:cNvPr id="238" name="Google Shape;238;g21197e7cf6e_0_75"/>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239" name="Google Shape;239;g21197e7cf6e_0_75"/>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0" name="Google Shape;240;g21197e7cf6e_0_75"/>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15</a:t>
            </a:fld>
            <a:endParaRPr sz="900" b="0" i="0" u="none" strike="noStrike" cap="none">
              <a:solidFill>
                <a:srgbClr val="FFFFFF"/>
              </a:solidFill>
              <a:latin typeface="Poppins"/>
              <a:ea typeface="Poppins"/>
              <a:cs typeface="Poppins"/>
              <a:sym typeface="Poppins"/>
            </a:endParaRPr>
          </a:p>
        </p:txBody>
      </p:sp>
      <p:sp>
        <p:nvSpPr>
          <p:cNvPr id="241" name="Google Shape;241;g21197e7cf6e_0_75"/>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242" name="Google Shape;242;g21197e7cf6e_0_75"/>
          <p:cNvSpPr txBox="1"/>
          <p:nvPr/>
        </p:nvSpPr>
        <p:spPr>
          <a:xfrm>
            <a:off x="533400" y="3704000"/>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Charts &amp; Insights</a:t>
            </a:r>
            <a:endParaRPr sz="2800" b="0" i="0" u="none" strike="noStrike" cap="none" dirty="0">
              <a:solidFill>
                <a:srgbClr val="FFFFFF"/>
              </a:solidFill>
              <a:latin typeface="Poppins"/>
              <a:ea typeface="Poppins"/>
              <a:cs typeface="Poppins"/>
              <a:sym typeface="Poppins"/>
            </a:endParaRPr>
          </a:p>
        </p:txBody>
      </p:sp>
      <p:pic>
        <p:nvPicPr>
          <p:cNvPr id="243" name="Google Shape;243;g21197e7cf6e_0_75"/>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463643" y="4922754"/>
            <a:ext cx="8180047" cy="1889760"/>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Consistent sales cycle: $24M to $26M.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Seasonal peaks: Late spring/early summer (May-June).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Annual low: January.</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Notable outlier: Sharp revenue drop in early 2017.</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16</a:t>
            </a:fld>
            <a:endParaRPr sz="900" b="0" i="0" u="none" strike="noStrike" cap="none">
              <a:solidFill>
                <a:srgbClr val="FFFFFF"/>
              </a:solidFill>
              <a:latin typeface="Poppins"/>
              <a:ea typeface="Poppins"/>
              <a:cs typeface="Poppins"/>
              <a:sym typeface="Poppins"/>
            </a:endParaRPr>
          </a:p>
        </p:txBody>
      </p:sp>
      <p:sp>
        <p:nvSpPr>
          <p:cNvPr id="257" name="Google Shape;257;g21197e7cf6e_0_97"/>
          <p:cNvSpPr txBox="1">
            <a:spLocks noGrp="1"/>
          </p:cNvSpPr>
          <p:nvPr>
            <p:ph type="title"/>
          </p:nvPr>
        </p:nvSpPr>
        <p:spPr>
          <a:xfrm>
            <a:off x="291102" y="361419"/>
            <a:ext cx="7190196" cy="492443"/>
          </a:xfrm>
          <a:prstGeom prst="rect">
            <a:avLst/>
          </a:prstGeom>
          <a:solidFill>
            <a:srgbClr val="FFFFFF"/>
          </a:solidFill>
          <a:ln>
            <a:noFill/>
          </a:ln>
        </p:spPr>
        <p:txBody>
          <a:bodyPr spcFirstLastPara="1" wrap="square" lIns="0" tIns="0" rIns="0" bIns="0" anchor="t" anchorCtr="0">
            <a:spAutoFit/>
          </a:bodyPr>
          <a:lstStyle/>
          <a:p>
            <a:pPr marL="0" lvl="0" indent="0" algn="l" rtl="0">
              <a:lnSpc>
                <a:spcPct val="100000"/>
              </a:lnSpc>
              <a:spcBef>
                <a:spcPts val="0"/>
              </a:spcBef>
              <a:spcAft>
                <a:spcPts val="0"/>
              </a:spcAft>
              <a:buClr>
                <a:schemeClr val="dk1"/>
              </a:buClr>
              <a:buSzPts val="1800"/>
              <a:buNone/>
            </a:pPr>
            <a:r>
              <a:rPr lang="en-GB" sz="3200" b="0" dirty="0">
                <a:solidFill>
                  <a:schemeClr val="tx1">
                    <a:lumMod val="75000"/>
                    <a:lumOff val="25000"/>
                  </a:schemeClr>
                </a:solidFill>
                <a:effectLst/>
              </a:rPr>
              <a:t>Monthly Sales Trend Over Time</a:t>
            </a:r>
            <a:endParaRPr sz="3200" b="0" dirty="0">
              <a:solidFill>
                <a:schemeClr val="tx1">
                  <a:lumMod val="75000"/>
                  <a:lumOff val="25000"/>
                </a:schemeClr>
              </a:solidFill>
            </a:endParaRPr>
          </a:p>
        </p:txBody>
      </p:sp>
      <p:pic>
        <p:nvPicPr>
          <p:cNvPr id="3" name="Picture 2">
            <a:extLst>
              <a:ext uri="{FF2B5EF4-FFF2-40B4-BE49-F238E27FC236}">
                <a16:creationId xmlns:a16="http://schemas.microsoft.com/office/drawing/2014/main" id="{7084071A-DC69-4E5A-BB16-144972025E31}"/>
              </a:ext>
            </a:extLst>
          </p:cNvPr>
          <p:cNvPicPr>
            <a:picLocks noChangeAspect="1"/>
          </p:cNvPicPr>
          <p:nvPr/>
        </p:nvPicPr>
        <p:blipFill>
          <a:blip r:embed="rId3"/>
          <a:stretch>
            <a:fillRect/>
          </a:stretch>
        </p:blipFill>
        <p:spPr>
          <a:xfrm>
            <a:off x="1463643" y="1282858"/>
            <a:ext cx="8079175" cy="3274347"/>
          </a:xfrm>
          <a:prstGeom prst="rect">
            <a:avLst/>
          </a:prstGeom>
        </p:spPr>
      </p:pic>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grpSp>
        <p:nvGrpSpPr>
          <p:cNvPr id="14" name="Group 13">
            <a:extLst>
              <a:ext uri="{FF2B5EF4-FFF2-40B4-BE49-F238E27FC236}">
                <a16:creationId xmlns:a16="http://schemas.microsoft.com/office/drawing/2014/main" id="{0BFA7B0C-328D-4EDB-A17C-F54FE47FDD86}"/>
              </a:ext>
            </a:extLst>
          </p:cNvPr>
          <p:cNvGrpSpPr/>
          <p:nvPr/>
        </p:nvGrpSpPr>
        <p:grpSpPr>
          <a:xfrm>
            <a:off x="868601" y="4782662"/>
            <a:ext cx="1799684" cy="520496"/>
            <a:chOff x="4990288" y="1782720"/>
            <a:chExt cx="1799684" cy="520496"/>
          </a:xfrm>
        </p:grpSpPr>
        <p:pic>
          <p:nvPicPr>
            <p:cNvPr id="15" name="Picture 14">
              <a:extLst>
                <a:ext uri="{FF2B5EF4-FFF2-40B4-BE49-F238E27FC236}">
                  <a16:creationId xmlns:a16="http://schemas.microsoft.com/office/drawing/2014/main" id="{8F670F79-D2A8-476E-BD77-4EA32B290ABE}"/>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6" name="TextBox 15">
              <a:extLst>
                <a:ext uri="{FF2B5EF4-FFF2-40B4-BE49-F238E27FC236}">
                  <a16:creationId xmlns:a16="http://schemas.microsoft.com/office/drawing/2014/main" id="{A3B312F8-AD4E-499D-B00F-38B7B90C600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531462" y="5291847"/>
            <a:ext cx="6535578" cy="1197475"/>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leaders: Products 26 &amp; 25 dominate.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Mid-range: Products 5, 13, 14, 15 show similar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cluster: Products 1, 2, 3, 4 have the lowest revenue.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Strategy: Grow mid-tier, improve lower performers.</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17</a:t>
            </a:fld>
            <a:endParaRPr sz="900" b="0" i="0" u="none" strike="noStrike" cap="none" dirty="0">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427EBEB1-F87B-4151-8638-E9EE6EBF4290}"/>
              </a:ext>
            </a:extLst>
          </p:cNvPr>
          <p:cNvPicPr>
            <a:picLocks noChangeAspect="1"/>
          </p:cNvPicPr>
          <p:nvPr/>
        </p:nvPicPr>
        <p:blipFill>
          <a:blip r:embed="rId3"/>
          <a:stretch>
            <a:fillRect/>
          </a:stretch>
        </p:blipFill>
        <p:spPr>
          <a:xfrm>
            <a:off x="1531462" y="1224836"/>
            <a:ext cx="8687553" cy="3596952"/>
          </a:xfrm>
          <a:prstGeom prst="rect">
            <a:avLst/>
          </a:prstGeom>
        </p:spPr>
      </p:pic>
      <p:grpSp>
        <p:nvGrpSpPr>
          <p:cNvPr id="10" name="Group 9">
            <a:extLst>
              <a:ext uri="{FF2B5EF4-FFF2-40B4-BE49-F238E27FC236}">
                <a16:creationId xmlns:a16="http://schemas.microsoft.com/office/drawing/2014/main" id="{6C4A5420-8C8C-4F8F-B704-5EE5DDE8C14D}"/>
              </a:ext>
            </a:extLst>
          </p:cNvPr>
          <p:cNvGrpSpPr/>
          <p:nvPr/>
        </p:nvGrpSpPr>
        <p:grpSpPr>
          <a:xfrm>
            <a:off x="1058368" y="4821788"/>
            <a:ext cx="1799684" cy="520496"/>
            <a:chOff x="4990288" y="1782720"/>
            <a:chExt cx="1799684" cy="520496"/>
          </a:xfrm>
        </p:grpSpPr>
        <p:pic>
          <p:nvPicPr>
            <p:cNvPr id="11" name="Picture 10">
              <a:extLst>
                <a:ext uri="{FF2B5EF4-FFF2-40B4-BE49-F238E27FC236}">
                  <a16:creationId xmlns:a16="http://schemas.microsoft.com/office/drawing/2014/main" id="{952E8B6A-003E-4213-8DB4-5E70B6781E7D}"/>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E85487F4-40E9-4739-9FE1-7936AE5A2DA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72C13FB2-91D7-42CC-9316-95D8F3B6DDDA}"/>
              </a:ext>
            </a:extLst>
          </p:cNvPr>
          <p:cNvSpPr txBox="1">
            <a:spLocks noGrp="1"/>
          </p:cNvSpPr>
          <p:nvPr>
            <p:ph type="title"/>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p>
            <a:r>
              <a:rPr lang="en-GB" sz="3200" b="0" dirty="0">
                <a:solidFill>
                  <a:schemeClr val="tx1">
                    <a:lumMod val="75000"/>
                    <a:lumOff val="25000"/>
                  </a:schemeClr>
                </a:solidFill>
                <a:effectLst/>
              </a:rPr>
              <a:t>Top 10 Products by Revenue</a:t>
            </a:r>
            <a:endParaRPr lang="en-GB" sz="3200" b="0" dirty="0">
              <a:solidFill>
                <a:schemeClr val="tx1">
                  <a:lumMod val="75000"/>
                  <a:lumOff val="25000"/>
                </a:schemeClr>
              </a:solidFill>
            </a:endParaRPr>
          </a:p>
        </p:txBody>
      </p:sp>
    </p:spTree>
    <p:extLst>
      <p:ext uri="{BB962C8B-B14F-4D97-AF65-F5344CB8AC3E}">
        <p14:creationId xmlns:p14="http://schemas.microsoft.com/office/powerpoint/2010/main" val="1635480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18</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D32C3C71-EB36-4C49-B4BF-0C00E1AB4CAB}"/>
              </a:ext>
            </a:extLst>
          </p:cNvPr>
          <p:cNvPicPr>
            <a:picLocks noChangeAspect="1"/>
          </p:cNvPicPr>
          <p:nvPr/>
        </p:nvPicPr>
        <p:blipFill>
          <a:blip r:embed="rId3"/>
          <a:srcRect/>
          <a:stretch/>
        </p:blipFill>
        <p:spPr>
          <a:xfrm>
            <a:off x="1809378" y="1231056"/>
            <a:ext cx="8573243" cy="3685587"/>
          </a:xfrm>
          <a:prstGeom prst="rect">
            <a:avLst/>
          </a:prstGeom>
        </p:spPr>
      </p:pic>
      <p:sp>
        <p:nvSpPr>
          <p:cNvPr id="10" name="Google Shape;249;g21197e7cf6e_0_97">
            <a:extLst>
              <a:ext uri="{FF2B5EF4-FFF2-40B4-BE49-F238E27FC236}">
                <a16:creationId xmlns:a16="http://schemas.microsoft.com/office/drawing/2014/main" id="{57BB1715-3ADB-4068-9B75-EBCA1DB2EA7B}"/>
              </a:ext>
            </a:extLst>
          </p:cNvPr>
          <p:cNvSpPr/>
          <p:nvPr/>
        </p:nvSpPr>
        <p:spPr>
          <a:xfrm>
            <a:off x="1809378" y="5260845"/>
            <a:ext cx="8851159" cy="1292752"/>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Top: Products 18 &amp; 28 lead at ~$8.1–8.4K.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Next tier: Products 5, 11, 12 &amp; 26 at ~$7.5–7.8K.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Entry‑level: Products 1, 4, 16 &amp; 21 around $7.3K.</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Takeaway: Top 10 all exceed $7.3K—consistent high margins.</a:t>
            </a:r>
          </a:p>
        </p:txBody>
      </p:sp>
      <p:grpSp>
        <p:nvGrpSpPr>
          <p:cNvPr id="11" name="Group 10">
            <a:extLst>
              <a:ext uri="{FF2B5EF4-FFF2-40B4-BE49-F238E27FC236}">
                <a16:creationId xmlns:a16="http://schemas.microsoft.com/office/drawing/2014/main" id="{B20E552C-11EE-4342-A082-27C9FCCA2AAB}"/>
              </a:ext>
            </a:extLst>
          </p:cNvPr>
          <p:cNvGrpSpPr/>
          <p:nvPr/>
        </p:nvGrpSpPr>
        <p:grpSpPr>
          <a:xfrm>
            <a:off x="1281888" y="4805223"/>
            <a:ext cx="1766112" cy="520496"/>
            <a:chOff x="4990288" y="1782720"/>
            <a:chExt cx="1799684" cy="520496"/>
          </a:xfrm>
        </p:grpSpPr>
        <p:pic>
          <p:nvPicPr>
            <p:cNvPr id="12" name="Picture 11">
              <a:extLst>
                <a:ext uri="{FF2B5EF4-FFF2-40B4-BE49-F238E27FC236}">
                  <a16:creationId xmlns:a16="http://schemas.microsoft.com/office/drawing/2014/main" id="{B0BD83AB-F894-4738-A6D1-2BC07DD393BF}"/>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id="{E4E577FF-B6E4-4310-85D7-17A077CCBC83}"/>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533FE142-A9BF-4047-853C-12E359056733}"/>
              </a:ext>
            </a:extLst>
          </p:cNvPr>
          <p:cNvSpPr txBox="1">
            <a:spLocks/>
          </p:cNvSpPr>
          <p:nvPr/>
        </p:nvSpPr>
        <p:spPr>
          <a:xfrm>
            <a:off x="291102" y="361419"/>
            <a:ext cx="857324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10 Products by Average Profit Margin</a:t>
            </a:r>
          </a:p>
        </p:txBody>
      </p:sp>
    </p:spTree>
    <p:extLst>
      <p:ext uri="{BB962C8B-B14F-4D97-AF65-F5344CB8AC3E}">
        <p14:creationId xmlns:p14="http://schemas.microsoft.com/office/powerpoint/2010/main" val="2342008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4990288" y="2130357"/>
            <a:ext cx="6653719" cy="2937754"/>
          </a:xfrm>
          <a:prstGeom prst="rect">
            <a:avLst/>
          </a:prstGeom>
          <a:solidFill>
            <a:schemeClr val="lt1"/>
          </a:solidFill>
          <a:ln>
            <a:noFill/>
          </a:ln>
        </p:spPr>
        <p:txBody>
          <a:bodyPr spcFirstLastPara="1" wrap="square" lIns="91425" tIns="45700" rIns="91425" bIns="45700" anchor="ctr" anchorCtr="0">
            <a:noAutofit/>
          </a:bodyPr>
          <a:lstStyle/>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Wholesale dominates: Generates the majority of total sales at 54.1%.</a:t>
            </a:r>
          </a:p>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Distributor is significant: Contributes a substantial 31.3% to total sales.</a:t>
            </a:r>
          </a:p>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Export is a smaller portion: Accounts for 14.6% of the total sales.</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19</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EC3277D3-4E46-4752-87EE-C557D939AAE3}"/>
              </a:ext>
            </a:extLst>
          </p:cNvPr>
          <p:cNvPicPr>
            <a:picLocks noChangeAspect="1"/>
          </p:cNvPicPr>
          <p:nvPr/>
        </p:nvPicPr>
        <p:blipFill>
          <a:blip r:embed="rId3"/>
          <a:stretch>
            <a:fillRect/>
          </a:stretch>
        </p:blipFill>
        <p:spPr>
          <a:xfrm>
            <a:off x="1100202" y="1782720"/>
            <a:ext cx="3607984" cy="3495323"/>
          </a:xfrm>
          <a:prstGeom prst="rect">
            <a:avLst/>
          </a:prstGeom>
        </p:spPr>
      </p:pic>
      <p:sp>
        <p:nvSpPr>
          <p:cNvPr id="6" name="Rectangle 5">
            <a:extLst>
              <a:ext uri="{FF2B5EF4-FFF2-40B4-BE49-F238E27FC236}">
                <a16:creationId xmlns:a16="http://schemas.microsoft.com/office/drawing/2014/main" id="{60D155AF-041D-43B8-9DCA-E39F052B3129}"/>
              </a:ext>
            </a:extLst>
          </p:cNvPr>
          <p:cNvSpPr/>
          <p:nvPr/>
        </p:nvSpPr>
        <p:spPr>
          <a:xfrm>
            <a:off x="4941651" y="6089515"/>
            <a:ext cx="2558375" cy="6026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75A32C24-E9EC-4693-9074-693E478F1E3A}"/>
              </a:ext>
            </a:extLst>
          </p:cNvPr>
          <p:cNvGrpSpPr/>
          <p:nvPr/>
        </p:nvGrpSpPr>
        <p:grpSpPr>
          <a:xfrm>
            <a:off x="4990288" y="1782720"/>
            <a:ext cx="1799684" cy="520496"/>
            <a:chOff x="4990288" y="1782720"/>
            <a:chExt cx="1799684" cy="520496"/>
          </a:xfrm>
        </p:grpSpPr>
        <p:pic>
          <p:nvPicPr>
            <p:cNvPr id="11" name="Picture 10">
              <a:extLst>
                <a:ext uri="{FF2B5EF4-FFF2-40B4-BE49-F238E27FC236}">
                  <a16:creationId xmlns:a16="http://schemas.microsoft.com/office/drawing/2014/main" id="{9ABDAD06-6C59-43E4-AAB3-6AC01203165E}"/>
                </a:ext>
              </a:extLst>
            </p:cNvPr>
            <p:cNvPicPr>
              <a:picLocks noChangeAspect="1"/>
            </p:cNvPicPr>
            <p:nvPr/>
          </p:nvPicPr>
          <p:blipFill>
            <a:blip r:embed="rId4"/>
            <a:stretch>
              <a:fillRect/>
            </a:stretch>
          </p:blipFill>
          <p:spPr>
            <a:xfrm>
              <a:off x="4990288" y="1782720"/>
              <a:ext cx="520496" cy="520496"/>
            </a:xfrm>
            <a:prstGeom prst="rect">
              <a:avLst/>
            </a:prstGeom>
          </p:spPr>
        </p:pic>
        <p:sp>
          <p:nvSpPr>
            <p:cNvPr id="7" name="TextBox 6">
              <a:extLst>
                <a:ext uri="{FF2B5EF4-FFF2-40B4-BE49-F238E27FC236}">
                  <a16:creationId xmlns:a16="http://schemas.microsoft.com/office/drawing/2014/main" id="{B1B59B4E-EA7A-4C3D-9847-3CC57FA9A9E1}"/>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id="{D5F37530-F693-4DEA-9195-52EBC3A2DFE9}"/>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Sales by Channel</a:t>
            </a:r>
          </a:p>
        </p:txBody>
      </p:sp>
    </p:spTree>
    <p:extLst>
      <p:ext uri="{BB962C8B-B14F-4D97-AF65-F5344CB8AC3E}">
        <p14:creationId xmlns:p14="http://schemas.microsoft.com/office/powerpoint/2010/main" val="1637791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7" y="5069452"/>
            <a:ext cx="8550612"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leads: Highest total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Texas, Florida, Illinois: Significant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Varying sales: Other states show moderate to low sales.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Visual pattern: Higher sales in larger and some coastal states.</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20</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F019706A-0C71-44DD-B7D5-B0FFD71ECD97}"/>
              </a:ext>
            </a:extLst>
          </p:cNvPr>
          <p:cNvPicPr>
            <a:picLocks noChangeAspect="1"/>
          </p:cNvPicPr>
          <p:nvPr/>
        </p:nvPicPr>
        <p:blipFill>
          <a:blip r:embed="rId3"/>
          <a:stretch>
            <a:fillRect/>
          </a:stretch>
        </p:blipFill>
        <p:spPr>
          <a:xfrm>
            <a:off x="1835244" y="1039518"/>
            <a:ext cx="5582715" cy="3491375"/>
          </a:xfrm>
          <a:prstGeom prst="rect">
            <a:avLst/>
          </a:prstGeom>
        </p:spPr>
      </p:pic>
      <p:pic>
        <p:nvPicPr>
          <p:cNvPr id="7" name="Picture 6">
            <a:extLst>
              <a:ext uri="{FF2B5EF4-FFF2-40B4-BE49-F238E27FC236}">
                <a16:creationId xmlns:a16="http://schemas.microsoft.com/office/drawing/2014/main" id="{A0FEEE11-F6B1-4A79-B0CD-00E13E4CBCFE}"/>
              </a:ext>
            </a:extLst>
          </p:cNvPr>
          <p:cNvPicPr>
            <a:picLocks noChangeAspect="1"/>
          </p:cNvPicPr>
          <p:nvPr/>
        </p:nvPicPr>
        <p:blipFill>
          <a:blip r:embed="rId4"/>
          <a:stretch>
            <a:fillRect/>
          </a:stretch>
        </p:blipFill>
        <p:spPr>
          <a:xfrm>
            <a:off x="8064998" y="1039518"/>
            <a:ext cx="869101" cy="3580941"/>
          </a:xfrm>
          <a:prstGeom prst="rect">
            <a:avLst/>
          </a:prstGeom>
        </p:spPr>
      </p:pic>
      <p:grpSp>
        <p:nvGrpSpPr>
          <p:cNvPr id="12" name="Group 11">
            <a:extLst>
              <a:ext uri="{FF2B5EF4-FFF2-40B4-BE49-F238E27FC236}">
                <a16:creationId xmlns:a16="http://schemas.microsoft.com/office/drawing/2014/main" id="{FB529DE5-AD5B-4A7E-ACA0-E8C1B4F5D534}"/>
              </a:ext>
            </a:extLst>
          </p:cNvPr>
          <p:cNvGrpSpPr/>
          <p:nvPr/>
        </p:nvGrpSpPr>
        <p:grpSpPr>
          <a:xfrm>
            <a:off x="1314748" y="4815847"/>
            <a:ext cx="1799684" cy="520496"/>
            <a:chOff x="4990288" y="1782720"/>
            <a:chExt cx="1799684" cy="520496"/>
          </a:xfrm>
        </p:grpSpPr>
        <p:pic>
          <p:nvPicPr>
            <p:cNvPr id="13" name="Picture 12">
              <a:extLst>
                <a:ext uri="{FF2B5EF4-FFF2-40B4-BE49-F238E27FC236}">
                  <a16:creationId xmlns:a16="http://schemas.microsoft.com/office/drawing/2014/main" id="{4811A562-8C23-4D3F-8084-9B45B155E9CB}"/>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4" name="TextBox 13">
              <a:extLst>
                <a:ext uri="{FF2B5EF4-FFF2-40B4-BE49-F238E27FC236}">
                  <a16:creationId xmlns:a16="http://schemas.microsoft.com/office/drawing/2014/main" id="{7D84E2AC-8429-4100-ABE2-2D72B51BE836}"/>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5" name="Google Shape;257;g21197e7cf6e_0_97">
            <a:extLst>
              <a:ext uri="{FF2B5EF4-FFF2-40B4-BE49-F238E27FC236}">
                <a16:creationId xmlns:a16="http://schemas.microsoft.com/office/drawing/2014/main" id="{DC1D2DAE-D83F-41B3-BA9B-429DF6D664CC}"/>
              </a:ext>
            </a:extLst>
          </p:cNvPr>
          <p:cNvSpPr txBox="1">
            <a:spLocks/>
          </p:cNvSpPr>
          <p:nvPr/>
        </p:nvSpPr>
        <p:spPr>
          <a:xfrm>
            <a:off x="291102" y="361419"/>
            <a:ext cx="80455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Total Sales by State (Choropleth Map)</a:t>
            </a:r>
          </a:p>
        </p:txBody>
      </p:sp>
    </p:spTree>
    <p:extLst>
      <p:ext uri="{BB962C8B-B14F-4D97-AF65-F5344CB8AC3E}">
        <p14:creationId xmlns:p14="http://schemas.microsoft.com/office/powerpoint/2010/main" val="3710022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6" y="4513634"/>
            <a:ext cx="8588483" cy="2053877"/>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West: Highest sales, strong market influence.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South: Major sales contributor, key market area.</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Midwest: Steady sales performance, moderate market size.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Northeast: Lowest sales, suggests need for deeper market understanding.</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21</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E943C40B-F027-4F5F-8ECF-7B0EA7D2E5A7}"/>
              </a:ext>
            </a:extLst>
          </p:cNvPr>
          <p:cNvPicPr>
            <a:picLocks noChangeAspect="1"/>
          </p:cNvPicPr>
          <p:nvPr/>
        </p:nvPicPr>
        <p:blipFill>
          <a:blip r:embed="rId3"/>
          <a:stretch>
            <a:fillRect/>
          </a:stretch>
        </p:blipFill>
        <p:spPr>
          <a:xfrm>
            <a:off x="462995" y="1349268"/>
            <a:ext cx="8588484" cy="2758679"/>
          </a:xfrm>
          <a:prstGeom prst="rect">
            <a:avLst/>
          </a:prstGeom>
        </p:spPr>
      </p:pic>
      <p:grpSp>
        <p:nvGrpSpPr>
          <p:cNvPr id="11" name="Group 10">
            <a:extLst>
              <a:ext uri="{FF2B5EF4-FFF2-40B4-BE49-F238E27FC236}">
                <a16:creationId xmlns:a16="http://schemas.microsoft.com/office/drawing/2014/main" id="{63B97E8D-6AB6-47D6-B7BE-022EAFDCB715}"/>
              </a:ext>
            </a:extLst>
          </p:cNvPr>
          <p:cNvGrpSpPr/>
          <p:nvPr/>
        </p:nvGrpSpPr>
        <p:grpSpPr>
          <a:xfrm>
            <a:off x="1139648" y="4426329"/>
            <a:ext cx="1799684" cy="520496"/>
            <a:chOff x="4990288" y="1782720"/>
            <a:chExt cx="1799684" cy="520496"/>
          </a:xfrm>
        </p:grpSpPr>
        <p:pic>
          <p:nvPicPr>
            <p:cNvPr id="12" name="Picture 11">
              <a:extLst>
                <a:ext uri="{FF2B5EF4-FFF2-40B4-BE49-F238E27FC236}">
                  <a16:creationId xmlns:a16="http://schemas.microsoft.com/office/drawing/2014/main" id="{2AE2EE14-4869-439A-95FA-38CFD24206CA}"/>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3" name="TextBox 12">
              <a:extLst>
                <a:ext uri="{FF2B5EF4-FFF2-40B4-BE49-F238E27FC236}">
                  <a16:creationId xmlns:a16="http://schemas.microsoft.com/office/drawing/2014/main" id="{478E7F2E-8BD3-4E70-9CD7-9C1A3255C0C0}"/>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4" name="Google Shape;257;g21197e7cf6e_0_97">
            <a:extLst>
              <a:ext uri="{FF2B5EF4-FFF2-40B4-BE49-F238E27FC236}">
                <a16:creationId xmlns:a16="http://schemas.microsoft.com/office/drawing/2014/main" id="{A6A7C502-D0D1-4F88-90F1-186C62EBA5B2}"/>
              </a:ext>
            </a:extLst>
          </p:cNvPr>
          <p:cNvSpPr txBox="1">
            <a:spLocks/>
          </p:cNvSpPr>
          <p:nvPr/>
        </p:nvSpPr>
        <p:spPr>
          <a:xfrm>
            <a:off x="291102" y="361419"/>
            <a:ext cx="6062073"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Total Sales by US Region</a:t>
            </a:r>
          </a:p>
        </p:txBody>
      </p:sp>
    </p:spTree>
    <p:extLst>
      <p:ext uri="{BB962C8B-B14F-4D97-AF65-F5344CB8AC3E}">
        <p14:creationId xmlns:p14="http://schemas.microsoft.com/office/powerpoint/2010/main" val="641396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80163" y="4867034"/>
            <a:ext cx="8012558" cy="1825163"/>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Low average order values are frequent.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Distribution is right-skewed (long tail of high-value orders).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Multiple order value clusters exist.</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Higher order values are less common.</a:t>
            </a:r>
            <a:endParaRPr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22</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B8EE0F30-EC03-4ED5-9E9A-ADB8CB5AD6D6}"/>
              </a:ext>
            </a:extLst>
          </p:cNvPr>
          <p:cNvPicPr>
            <a:picLocks noChangeAspect="1"/>
          </p:cNvPicPr>
          <p:nvPr/>
        </p:nvPicPr>
        <p:blipFill>
          <a:blip r:embed="rId3"/>
          <a:stretch>
            <a:fillRect/>
          </a:stretch>
        </p:blipFill>
        <p:spPr>
          <a:xfrm>
            <a:off x="543095" y="1346776"/>
            <a:ext cx="9378145" cy="3103154"/>
          </a:xfrm>
          <a:prstGeom prst="rect">
            <a:avLst/>
          </a:prstGeom>
        </p:spPr>
      </p:pic>
      <p:grpSp>
        <p:nvGrpSpPr>
          <p:cNvPr id="10" name="Group 9">
            <a:extLst>
              <a:ext uri="{FF2B5EF4-FFF2-40B4-BE49-F238E27FC236}">
                <a16:creationId xmlns:a16="http://schemas.microsoft.com/office/drawing/2014/main" id="{4950C65A-5879-4F24-90B5-64366282F28B}"/>
              </a:ext>
            </a:extLst>
          </p:cNvPr>
          <p:cNvGrpSpPr/>
          <p:nvPr/>
        </p:nvGrpSpPr>
        <p:grpSpPr>
          <a:xfrm>
            <a:off x="1210768" y="4449930"/>
            <a:ext cx="1799684" cy="520496"/>
            <a:chOff x="4990288" y="1782720"/>
            <a:chExt cx="1799684" cy="520496"/>
          </a:xfrm>
        </p:grpSpPr>
        <p:pic>
          <p:nvPicPr>
            <p:cNvPr id="11" name="Picture 10">
              <a:extLst>
                <a:ext uri="{FF2B5EF4-FFF2-40B4-BE49-F238E27FC236}">
                  <a16:creationId xmlns:a16="http://schemas.microsoft.com/office/drawing/2014/main" id="{7F378D8A-AA79-4779-ABD5-0E33DF2044A1}"/>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AD355348-2153-4E05-AB5A-3DD90DEBF1A7}"/>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Google Shape;257;g21197e7cf6e_0_97">
            <a:extLst>
              <a:ext uri="{FF2B5EF4-FFF2-40B4-BE49-F238E27FC236}">
                <a16:creationId xmlns:a16="http://schemas.microsoft.com/office/drawing/2014/main" id="{B141D559-8CD7-4408-B94F-8E88E2EC2263}"/>
              </a:ext>
            </a:extLst>
          </p:cNvPr>
          <p:cNvSpPr txBox="1">
            <a:spLocks/>
          </p:cNvSpPr>
          <p:nvPr/>
        </p:nvSpPr>
        <p:spPr>
          <a:xfrm>
            <a:off x="291102" y="361419"/>
            <a:ext cx="8055230"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Average Order Value (AOV) Distribution</a:t>
            </a:r>
          </a:p>
        </p:txBody>
      </p:sp>
    </p:spTree>
    <p:extLst>
      <p:ext uri="{BB962C8B-B14F-4D97-AF65-F5344CB8AC3E}">
        <p14:creationId xmlns:p14="http://schemas.microsoft.com/office/powerpoint/2010/main" val="478440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3906127" y="4773364"/>
            <a:ext cx="5053047" cy="1788548"/>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California tops revenue &amp; orders.</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IL, FL, TX: High in both.</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orders linked.</a:t>
            </a:r>
            <a:br>
              <a:rPr lang="en-GB" sz="1600" dirty="0">
                <a:effectLst/>
                <a:latin typeface="Poppins" panose="020B0604020202020204" charset="0"/>
                <a:cs typeface="Poppins" panose="020B0604020202020204" charset="0"/>
              </a:rPr>
            </a:b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Other top states: Lower contribution.</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23</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9" name="Picture 8">
            <a:extLst>
              <a:ext uri="{FF2B5EF4-FFF2-40B4-BE49-F238E27FC236}">
                <a16:creationId xmlns:a16="http://schemas.microsoft.com/office/drawing/2014/main" id="{47056D5B-1778-4561-9D36-03824E06DDF8}"/>
              </a:ext>
            </a:extLst>
          </p:cNvPr>
          <p:cNvPicPr>
            <a:picLocks noChangeAspect="1"/>
          </p:cNvPicPr>
          <p:nvPr/>
        </p:nvPicPr>
        <p:blipFill>
          <a:blip r:embed="rId3"/>
          <a:stretch>
            <a:fillRect/>
          </a:stretch>
        </p:blipFill>
        <p:spPr>
          <a:xfrm>
            <a:off x="0" y="1486677"/>
            <a:ext cx="5937425" cy="2780523"/>
          </a:xfrm>
          <a:prstGeom prst="rect">
            <a:avLst/>
          </a:prstGeom>
        </p:spPr>
      </p:pic>
      <p:pic>
        <p:nvPicPr>
          <p:cNvPr id="11" name="Picture 10">
            <a:extLst>
              <a:ext uri="{FF2B5EF4-FFF2-40B4-BE49-F238E27FC236}">
                <a16:creationId xmlns:a16="http://schemas.microsoft.com/office/drawing/2014/main" id="{F4442AF9-F0AB-426C-8214-7FC6B1823151}"/>
              </a:ext>
            </a:extLst>
          </p:cNvPr>
          <p:cNvPicPr>
            <a:picLocks noChangeAspect="1"/>
          </p:cNvPicPr>
          <p:nvPr/>
        </p:nvPicPr>
        <p:blipFill>
          <a:blip r:embed="rId4"/>
          <a:stretch>
            <a:fillRect/>
          </a:stretch>
        </p:blipFill>
        <p:spPr>
          <a:xfrm>
            <a:off x="6255600" y="1427876"/>
            <a:ext cx="5936400" cy="2839324"/>
          </a:xfrm>
          <a:prstGeom prst="rect">
            <a:avLst/>
          </a:prstGeom>
        </p:spPr>
      </p:pic>
      <p:grpSp>
        <p:nvGrpSpPr>
          <p:cNvPr id="16" name="Group 15">
            <a:extLst>
              <a:ext uri="{FF2B5EF4-FFF2-40B4-BE49-F238E27FC236}">
                <a16:creationId xmlns:a16="http://schemas.microsoft.com/office/drawing/2014/main" id="{BCD832DA-6837-43BD-BCA8-DC3C64AEA851}"/>
              </a:ext>
            </a:extLst>
          </p:cNvPr>
          <p:cNvGrpSpPr/>
          <p:nvPr/>
        </p:nvGrpSpPr>
        <p:grpSpPr>
          <a:xfrm>
            <a:off x="2301063" y="4647840"/>
            <a:ext cx="1799684" cy="520496"/>
            <a:chOff x="4990288" y="1782720"/>
            <a:chExt cx="1799684" cy="520496"/>
          </a:xfrm>
        </p:grpSpPr>
        <p:pic>
          <p:nvPicPr>
            <p:cNvPr id="17" name="Picture 16">
              <a:extLst>
                <a:ext uri="{FF2B5EF4-FFF2-40B4-BE49-F238E27FC236}">
                  <a16:creationId xmlns:a16="http://schemas.microsoft.com/office/drawing/2014/main" id="{27227694-6406-4F94-AE9A-63F102BD4FCF}"/>
                </a:ext>
              </a:extLst>
            </p:cNvPr>
            <p:cNvPicPr>
              <a:picLocks noChangeAspect="1"/>
            </p:cNvPicPr>
            <p:nvPr/>
          </p:nvPicPr>
          <p:blipFill>
            <a:blip r:embed="rId5"/>
            <a:stretch>
              <a:fillRect/>
            </a:stretch>
          </p:blipFill>
          <p:spPr>
            <a:xfrm>
              <a:off x="4990288" y="1782720"/>
              <a:ext cx="520496" cy="520496"/>
            </a:xfrm>
            <a:prstGeom prst="rect">
              <a:avLst/>
            </a:prstGeom>
          </p:spPr>
        </p:pic>
        <p:sp>
          <p:nvSpPr>
            <p:cNvPr id="18" name="TextBox 17">
              <a:extLst>
                <a:ext uri="{FF2B5EF4-FFF2-40B4-BE49-F238E27FC236}">
                  <a16:creationId xmlns:a16="http://schemas.microsoft.com/office/drawing/2014/main" id="{9FB709D9-5EFD-427F-93EB-E673E405FB1D}"/>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2" name="Google Shape;257;g21197e7cf6e_0_97">
            <a:extLst>
              <a:ext uri="{FF2B5EF4-FFF2-40B4-BE49-F238E27FC236}">
                <a16:creationId xmlns:a16="http://schemas.microsoft.com/office/drawing/2014/main" id="{6E04CD2A-9940-40FB-B232-1212B8ECF12B}"/>
              </a:ext>
            </a:extLst>
          </p:cNvPr>
          <p:cNvSpPr txBox="1">
            <a:spLocks/>
          </p:cNvSpPr>
          <p:nvPr/>
        </p:nvSpPr>
        <p:spPr>
          <a:xfrm>
            <a:off x="291102" y="361419"/>
            <a:ext cx="9018268"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State Performance: Revenue vs. Orders</a:t>
            </a:r>
          </a:p>
        </p:txBody>
      </p:sp>
    </p:spTree>
    <p:extLst>
      <p:ext uri="{BB962C8B-B14F-4D97-AF65-F5344CB8AC3E}">
        <p14:creationId xmlns:p14="http://schemas.microsoft.com/office/powerpoint/2010/main" val="765688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1760707" y="5069452"/>
            <a:ext cx="9231548" cy="1498059"/>
          </a:xfrm>
          <a:prstGeom prst="rect">
            <a:avLst/>
          </a:prstGeom>
          <a:solidFill>
            <a:schemeClr val="lt1"/>
          </a:solidFill>
          <a:ln>
            <a:noFill/>
          </a:ln>
        </p:spPr>
        <p:txBody>
          <a:bodyPr spcFirstLastPara="1" wrap="square" lIns="91425" tIns="45700" rIns="91425" bIns="45700" anchor="ctr" anchorCtr="0">
            <a:noAutofit/>
          </a:bodyPr>
          <a:lstStyle/>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Aibox Company leads significantly as the top revenue generator.</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Bottom 10 customers generate substantially less revenue (around $4-5M).</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concentration: Top customers drive a disproportionate share.</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Large gap: Exists between the revenue of top and bottom tier customers.</a:t>
            </a:r>
            <a:endParaRPr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24</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34210F9D-79F3-4B8A-AC76-796B0F602BC6}"/>
              </a:ext>
            </a:extLst>
          </p:cNvPr>
          <p:cNvPicPr>
            <a:picLocks noChangeAspect="1"/>
          </p:cNvPicPr>
          <p:nvPr/>
        </p:nvPicPr>
        <p:blipFill>
          <a:blip r:embed="rId3"/>
          <a:stretch>
            <a:fillRect/>
          </a:stretch>
        </p:blipFill>
        <p:spPr>
          <a:xfrm>
            <a:off x="249572" y="1317606"/>
            <a:ext cx="11421318" cy="3415129"/>
          </a:xfrm>
          <a:prstGeom prst="rect">
            <a:avLst/>
          </a:prstGeom>
        </p:spPr>
      </p:pic>
      <p:grpSp>
        <p:nvGrpSpPr>
          <p:cNvPr id="15" name="Group 14">
            <a:extLst>
              <a:ext uri="{FF2B5EF4-FFF2-40B4-BE49-F238E27FC236}">
                <a16:creationId xmlns:a16="http://schemas.microsoft.com/office/drawing/2014/main" id="{3BEE92BF-EDF0-43AD-84EB-6B78097D0AE5}"/>
              </a:ext>
            </a:extLst>
          </p:cNvPr>
          <p:cNvGrpSpPr/>
          <p:nvPr/>
        </p:nvGrpSpPr>
        <p:grpSpPr>
          <a:xfrm>
            <a:off x="700392" y="4809204"/>
            <a:ext cx="1799684" cy="520496"/>
            <a:chOff x="4990288" y="1782720"/>
            <a:chExt cx="1799684" cy="520496"/>
          </a:xfrm>
        </p:grpSpPr>
        <p:pic>
          <p:nvPicPr>
            <p:cNvPr id="16" name="Picture 15">
              <a:extLst>
                <a:ext uri="{FF2B5EF4-FFF2-40B4-BE49-F238E27FC236}">
                  <a16:creationId xmlns:a16="http://schemas.microsoft.com/office/drawing/2014/main" id="{805499F1-5CF7-482E-9CC3-85D032E64813}"/>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7" name="TextBox 16">
              <a:extLst>
                <a:ext uri="{FF2B5EF4-FFF2-40B4-BE49-F238E27FC236}">
                  <a16:creationId xmlns:a16="http://schemas.microsoft.com/office/drawing/2014/main" id="{F3DBDAF9-3B3E-479B-8CE3-C15C29F0998F}"/>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1" name="Google Shape;257;g21197e7cf6e_0_97">
            <a:extLst>
              <a:ext uri="{FF2B5EF4-FFF2-40B4-BE49-F238E27FC236}">
                <a16:creationId xmlns:a16="http://schemas.microsoft.com/office/drawing/2014/main" id="{2449E120-C251-406B-9222-741B21FC9E12}"/>
              </a:ext>
            </a:extLst>
          </p:cNvPr>
          <p:cNvSpPr txBox="1">
            <a:spLocks/>
          </p:cNvSpPr>
          <p:nvPr/>
        </p:nvSpPr>
        <p:spPr>
          <a:xfrm>
            <a:off x="291102" y="361419"/>
            <a:ext cx="8959902"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Top and Bottom 10 Customers by Revenue</a:t>
            </a:r>
          </a:p>
        </p:txBody>
      </p:sp>
    </p:spTree>
    <p:extLst>
      <p:ext uri="{BB962C8B-B14F-4D97-AF65-F5344CB8AC3E}">
        <p14:creationId xmlns:p14="http://schemas.microsoft.com/office/powerpoint/2010/main" val="931720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623700" y="2582579"/>
            <a:ext cx="5428870" cy="2570446"/>
          </a:xfrm>
          <a:prstGeom prst="rect">
            <a:avLst/>
          </a:prstGeom>
          <a:solidFill>
            <a:schemeClr val="lt1"/>
          </a:solidFill>
          <a:ln>
            <a:noFill/>
          </a:ln>
        </p:spPr>
        <p:txBody>
          <a:bodyPr spcFirstLastPara="1" wrap="square" lIns="91425" tIns="45700" rIns="91425" bIns="45700" anchor="ctr" anchorCtr="0">
            <a:noAutofit/>
          </a:body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Those Uniform 35–40 % margins confirm strong, consistent pricing and cost control.</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&gt;$10 M clients with &lt;36 % margins reveal discounting hotspots—re evaluate large‑account terms.</a:t>
            </a: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endParaRPr lang="en-GB" sz="1600" dirty="0">
              <a:latin typeface="Poppins" panose="020B0604020202020204" charset="0"/>
              <a:cs typeface="Poppins" panose="020B0604020202020204" charset="0"/>
            </a:endParaRPr>
          </a:p>
          <a:p>
            <a:pPr marL="285750" marR="0" lvl="0" indent="-28575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$6–9 M clients with &gt;40 % margins are high‑value candidates for targeted upsell.</a:t>
            </a:r>
            <a:endParaRPr lang="en-GB" sz="12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25</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a:extLst>
              <a:ext uri="{FF2B5EF4-FFF2-40B4-BE49-F238E27FC236}">
                <a16:creationId xmlns:a16="http://schemas.microsoft.com/office/drawing/2014/main" id="{FE61AE86-902E-4FC1-B17C-07D7F22741FE}"/>
              </a:ext>
            </a:extLst>
          </p:cNvPr>
          <p:cNvPicPr>
            <a:picLocks noChangeAspect="1"/>
          </p:cNvPicPr>
          <p:nvPr/>
        </p:nvPicPr>
        <p:blipFill>
          <a:blip r:embed="rId3"/>
          <a:srcRect/>
          <a:stretch/>
        </p:blipFill>
        <p:spPr>
          <a:xfrm>
            <a:off x="351173" y="1606883"/>
            <a:ext cx="6017105" cy="4107732"/>
          </a:xfrm>
          <a:prstGeom prst="rect">
            <a:avLst/>
          </a:prstGeom>
        </p:spPr>
      </p:pic>
      <p:grpSp>
        <p:nvGrpSpPr>
          <p:cNvPr id="10" name="Group 9">
            <a:extLst>
              <a:ext uri="{FF2B5EF4-FFF2-40B4-BE49-F238E27FC236}">
                <a16:creationId xmlns:a16="http://schemas.microsoft.com/office/drawing/2014/main" id="{0424FEB4-C23A-4F5C-94D6-30B974864E0F}"/>
              </a:ext>
            </a:extLst>
          </p:cNvPr>
          <p:cNvGrpSpPr/>
          <p:nvPr/>
        </p:nvGrpSpPr>
        <p:grpSpPr>
          <a:xfrm>
            <a:off x="6524448" y="1904839"/>
            <a:ext cx="1799684" cy="520496"/>
            <a:chOff x="4990288" y="1782720"/>
            <a:chExt cx="1799684" cy="520496"/>
          </a:xfrm>
        </p:grpSpPr>
        <p:pic>
          <p:nvPicPr>
            <p:cNvPr id="11" name="Picture 10">
              <a:extLst>
                <a:ext uri="{FF2B5EF4-FFF2-40B4-BE49-F238E27FC236}">
                  <a16:creationId xmlns:a16="http://schemas.microsoft.com/office/drawing/2014/main" id="{9138E342-C826-4674-9A13-CE9AC70D120F}"/>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796A52B8-5099-4B1B-83C9-3818EE103ED2}"/>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13" name="Rectangle 12">
            <a:extLst>
              <a:ext uri="{FF2B5EF4-FFF2-40B4-BE49-F238E27FC236}">
                <a16:creationId xmlns:a16="http://schemas.microsoft.com/office/drawing/2014/main" id="{EC5A6E02-D1B8-42AC-A6A9-D169FAEE931F}"/>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Google Shape;257;g21197e7cf6e_0_97">
            <a:extLst>
              <a:ext uri="{FF2B5EF4-FFF2-40B4-BE49-F238E27FC236}">
                <a16:creationId xmlns:a16="http://schemas.microsoft.com/office/drawing/2014/main" id="{EC3F2E8A-CC3A-44EC-BB95-D0A91F6B51B8}"/>
              </a:ext>
            </a:extLst>
          </p:cNvPr>
          <p:cNvSpPr txBox="1">
            <a:spLocks/>
          </p:cNvSpPr>
          <p:nvPr/>
        </p:nvSpPr>
        <p:spPr>
          <a:xfrm>
            <a:off x="291102" y="361419"/>
            <a:ext cx="10360685"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Customer Segmentation: Revenue vs. Profit Margin</a:t>
            </a:r>
          </a:p>
        </p:txBody>
      </p:sp>
    </p:spTree>
    <p:extLst>
      <p:ext uri="{BB962C8B-B14F-4D97-AF65-F5344CB8AC3E}">
        <p14:creationId xmlns:p14="http://schemas.microsoft.com/office/powerpoint/2010/main" val="550205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21197e7cf6e_0_97"/>
          <p:cNvSpPr/>
          <p:nvPr/>
        </p:nvSpPr>
        <p:spPr>
          <a:xfrm>
            <a:off x="6371616" y="2271057"/>
            <a:ext cx="5680953" cy="3701118"/>
          </a:xfrm>
          <a:prstGeom prst="rect">
            <a:avLst/>
          </a:prstGeom>
          <a:solidFill>
            <a:schemeClr val="lt1"/>
          </a:solidFill>
          <a:ln>
            <a:noFill/>
          </a:ln>
        </p:spPr>
        <p:txBody>
          <a:bodyPr spcFirstLastPara="1" wrap="square" lIns="91425" tIns="45700" rIns="91425" bIns="45700" anchor="ctr" anchorCtr="0">
            <a:noAutofit/>
          </a:bodyPr>
          <a:lstStyle/>
          <a:p>
            <a:pPr marR="0" lvl="0" rtl="0">
              <a:lnSpc>
                <a:spcPct val="100000"/>
              </a:lnSpc>
              <a:spcBef>
                <a:spcPts val="0"/>
              </a:spcBef>
              <a:spcAft>
                <a:spcPts val="0"/>
              </a:spcAft>
              <a:buClr>
                <a:srgbClr val="000000"/>
              </a:buClr>
              <a:buSzPts val="1800"/>
            </a:pPr>
            <a:endParaRPr lang="en-GB" sz="1600" dirty="0">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Unit price is the primary driver, showing very strong correlations with cost (0.94), revenue (0.91) and profit (0.79).</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Revenue &amp; profit maintain a high link (0.87), underscoring direct profitability gains.</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Quantity’s impact is minimal (≤ 0.34 vs. financials), indicating volume plays a secondary role.</a:t>
            </a: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endParaRPr lang="en-GB" sz="1600" dirty="0">
              <a:effectLst/>
              <a:latin typeface="Poppins" panose="020B0604020202020204" charset="0"/>
              <a:cs typeface="Poppins" panose="020B0604020202020204" charset="0"/>
            </a:endParaRPr>
          </a:p>
          <a:p>
            <a:pPr marL="342900" marR="0" lvl="0" indent="-342900" rtl="0">
              <a:lnSpc>
                <a:spcPct val="100000"/>
              </a:lnSpc>
              <a:spcBef>
                <a:spcPts val="0"/>
              </a:spcBef>
              <a:spcAft>
                <a:spcPts val="0"/>
              </a:spcAft>
              <a:buClr>
                <a:srgbClr val="000000"/>
              </a:buClr>
              <a:buSzPts val="1800"/>
              <a:buFont typeface="Arial" panose="020B0604020202020204" pitchFamily="34" charset="0"/>
              <a:buChar char="•"/>
            </a:pPr>
            <a:r>
              <a:rPr lang="en-GB" sz="1600" dirty="0">
                <a:effectLst/>
                <a:latin typeface="Poppins" panose="020B0604020202020204" charset="0"/>
                <a:cs typeface="Poppins" panose="020B0604020202020204" charset="0"/>
              </a:rPr>
              <a:t>Cost vs. profit correlation (0.58) is moderate, suggesting margin improvement focus should center on pricing.</a:t>
            </a:r>
            <a:endParaRPr lang="en-GB" sz="1600" b="0" i="0" u="none" strike="noStrike" cap="none" dirty="0">
              <a:solidFill>
                <a:schemeClr val="lt1"/>
              </a:solidFill>
              <a:latin typeface="Poppins" panose="020B0604020202020204" charset="0"/>
              <a:ea typeface="Poppins"/>
              <a:cs typeface="Poppins" panose="020B0604020202020204" charset="0"/>
              <a:sym typeface="Poppins"/>
            </a:endParaRPr>
          </a:p>
        </p:txBody>
      </p:sp>
      <p:sp>
        <p:nvSpPr>
          <p:cNvPr id="250" name="Google Shape;250;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253" name="Google Shape;253;g21197e7cf6e_0_9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26</a:t>
            </a:fld>
            <a:endParaRPr sz="900" b="0" i="0" u="none" strike="noStrike" cap="none">
              <a:solidFill>
                <a:srgbClr val="FFFFFF"/>
              </a:solidFill>
              <a:latin typeface="Poppins"/>
              <a:ea typeface="Poppins"/>
              <a:cs typeface="Poppins"/>
              <a:sym typeface="Poppins"/>
            </a:endParaRPr>
          </a:p>
        </p:txBody>
      </p:sp>
      <p:sp>
        <p:nvSpPr>
          <p:cNvPr id="4" name="Rectangle 3">
            <a:extLst>
              <a:ext uri="{FF2B5EF4-FFF2-40B4-BE49-F238E27FC236}">
                <a16:creationId xmlns:a16="http://schemas.microsoft.com/office/drawing/2014/main" id="{852F17B8-A48D-44D7-8FDB-8FC66B3BA812}"/>
              </a:ext>
            </a:extLst>
          </p:cNvPr>
          <p:cNvSpPr/>
          <p:nvPr/>
        </p:nvSpPr>
        <p:spPr>
          <a:xfrm>
            <a:off x="10564238" y="6157609"/>
            <a:ext cx="1488332" cy="534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3" name="Picture 2">
            <a:extLst>
              <a:ext uri="{FF2B5EF4-FFF2-40B4-BE49-F238E27FC236}">
                <a16:creationId xmlns:a16="http://schemas.microsoft.com/office/drawing/2014/main" id="{248D07D7-4FC1-4A7A-B1B8-B1F2DA259A87}"/>
              </a:ext>
            </a:extLst>
          </p:cNvPr>
          <p:cNvPicPr>
            <a:picLocks noChangeAspect="1"/>
          </p:cNvPicPr>
          <p:nvPr/>
        </p:nvPicPr>
        <p:blipFill>
          <a:blip r:embed="rId3"/>
          <a:srcRect/>
          <a:stretch/>
        </p:blipFill>
        <p:spPr>
          <a:xfrm>
            <a:off x="351173" y="1954510"/>
            <a:ext cx="5620905" cy="3834600"/>
          </a:xfrm>
          <a:prstGeom prst="rect">
            <a:avLst/>
          </a:prstGeom>
        </p:spPr>
      </p:pic>
      <p:grpSp>
        <p:nvGrpSpPr>
          <p:cNvPr id="10" name="Group 9">
            <a:extLst>
              <a:ext uri="{FF2B5EF4-FFF2-40B4-BE49-F238E27FC236}">
                <a16:creationId xmlns:a16="http://schemas.microsoft.com/office/drawing/2014/main" id="{870D0C5A-2E0A-43BA-9EB1-CACEBF500ACA}"/>
              </a:ext>
            </a:extLst>
          </p:cNvPr>
          <p:cNvGrpSpPr/>
          <p:nvPr/>
        </p:nvGrpSpPr>
        <p:grpSpPr>
          <a:xfrm>
            <a:off x="6219924" y="1750561"/>
            <a:ext cx="1799684" cy="520496"/>
            <a:chOff x="4990288" y="1782720"/>
            <a:chExt cx="1799684" cy="520496"/>
          </a:xfrm>
        </p:grpSpPr>
        <p:pic>
          <p:nvPicPr>
            <p:cNvPr id="11" name="Picture 10">
              <a:extLst>
                <a:ext uri="{FF2B5EF4-FFF2-40B4-BE49-F238E27FC236}">
                  <a16:creationId xmlns:a16="http://schemas.microsoft.com/office/drawing/2014/main" id="{C04FD692-7C1E-426B-A1A9-D42082D36522}"/>
                </a:ext>
              </a:extLst>
            </p:cNvPr>
            <p:cNvPicPr>
              <a:picLocks noChangeAspect="1"/>
            </p:cNvPicPr>
            <p:nvPr/>
          </p:nvPicPr>
          <p:blipFill>
            <a:blip r:embed="rId4"/>
            <a:stretch>
              <a:fillRect/>
            </a:stretch>
          </p:blipFill>
          <p:spPr>
            <a:xfrm>
              <a:off x="4990288" y="1782720"/>
              <a:ext cx="520496" cy="520496"/>
            </a:xfrm>
            <a:prstGeom prst="rect">
              <a:avLst/>
            </a:prstGeom>
          </p:spPr>
        </p:pic>
        <p:sp>
          <p:nvSpPr>
            <p:cNvPr id="12" name="TextBox 11">
              <a:extLst>
                <a:ext uri="{FF2B5EF4-FFF2-40B4-BE49-F238E27FC236}">
                  <a16:creationId xmlns:a16="http://schemas.microsoft.com/office/drawing/2014/main" id="{738E0E32-AD2E-402F-B026-4576898C4118}"/>
                </a:ext>
              </a:extLst>
            </p:cNvPr>
            <p:cNvSpPr txBox="1"/>
            <p:nvPr/>
          </p:nvSpPr>
          <p:spPr>
            <a:xfrm flipH="1">
              <a:off x="5510784" y="1858302"/>
              <a:ext cx="1279188" cy="369332"/>
            </a:xfrm>
            <a:prstGeom prst="rect">
              <a:avLst/>
            </a:prstGeom>
            <a:noFill/>
          </p:spPr>
          <p:txBody>
            <a:bodyPr wrap="square" rtlCol="0">
              <a:spAutoFit/>
            </a:bodyPr>
            <a:lstStyle/>
            <a:p>
              <a:r>
                <a:rPr lang="en-IN" sz="1800" b="1" dirty="0">
                  <a:solidFill>
                    <a:schemeClr val="tx1">
                      <a:lumMod val="50000"/>
                      <a:lumOff val="50000"/>
                    </a:schemeClr>
                  </a:solidFill>
                </a:rPr>
                <a:t>Insights</a:t>
              </a:r>
            </a:p>
          </p:txBody>
        </p:sp>
      </p:grpSp>
      <p:sp>
        <p:nvSpPr>
          <p:cNvPr id="6" name="Rectangle 5">
            <a:extLst>
              <a:ext uri="{FF2B5EF4-FFF2-40B4-BE49-F238E27FC236}">
                <a16:creationId xmlns:a16="http://schemas.microsoft.com/office/drawing/2014/main" id="{D8594DA7-4735-457A-AD22-C8533C973609}"/>
              </a:ext>
            </a:extLst>
          </p:cNvPr>
          <p:cNvSpPr/>
          <p:nvPr/>
        </p:nvSpPr>
        <p:spPr>
          <a:xfrm>
            <a:off x="4844374" y="6157609"/>
            <a:ext cx="2422188" cy="3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Google Shape;257;g21197e7cf6e_0_97">
            <a:extLst>
              <a:ext uri="{FF2B5EF4-FFF2-40B4-BE49-F238E27FC236}">
                <a16:creationId xmlns:a16="http://schemas.microsoft.com/office/drawing/2014/main" id="{930A99F3-207D-43B4-9CC7-150443490A66}"/>
              </a:ext>
            </a:extLst>
          </p:cNvPr>
          <p:cNvSpPr txBox="1">
            <a:spLocks/>
          </p:cNvSpPr>
          <p:nvPr/>
        </p:nvSpPr>
        <p:spPr>
          <a:xfrm>
            <a:off x="291102" y="361419"/>
            <a:ext cx="8813987" cy="492443"/>
          </a:xfrm>
          <a:prstGeom prst="rect">
            <a:avLst/>
          </a:prstGeom>
          <a:solidFill>
            <a:srgbClr val="FFFFFF"/>
          </a:solid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Arial"/>
              <a:buNone/>
              <a:defRPr sz="2800" b="1"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GB" sz="3200" b="0" dirty="0">
                <a:solidFill>
                  <a:schemeClr val="tx1">
                    <a:lumMod val="75000"/>
                    <a:lumOff val="25000"/>
                  </a:schemeClr>
                </a:solidFill>
              </a:rPr>
              <a:t>Correlation Heatmap of Numeric Features</a:t>
            </a:r>
          </a:p>
        </p:txBody>
      </p:sp>
    </p:spTree>
    <p:extLst>
      <p:ext uri="{BB962C8B-B14F-4D97-AF65-F5344CB8AC3E}">
        <p14:creationId xmlns:p14="http://schemas.microsoft.com/office/powerpoint/2010/main" val="176992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27</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dirty="0">
                <a:solidFill>
                  <a:srgbClr val="FFFFFF"/>
                </a:solidFill>
                <a:latin typeface="Poppins"/>
                <a:ea typeface="Poppins"/>
                <a:cs typeface="Poppins"/>
                <a:sym typeface="Poppins"/>
              </a:rPr>
              <a:t>Key Insights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28</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4" name="TextBox 3">
            <a:extLst>
              <a:ext uri="{FF2B5EF4-FFF2-40B4-BE49-F238E27FC236}">
                <a16:creationId xmlns:a16="http://schemas.microsoft.com/office/drawing/2014/main" id="{57FF0907-75F7-4D14-9B2A-616F6EC8DD1E}"/>
              </a:ext>
            </a:extLst>
          </p:cNvPr>
          <p:cNvSpPr txBox="1"/>
          <p:nvPr/>
        </p:nvSpPr>
        <p:spPr>
          <a:xfrm>
            <a:off x="761819" y="1891715"/>
            <a:ext cx="11084560" cy="3139321"/>
          </a:xfrm>
          <a:prstGeom prst="rect">
            <a:avLst/>
          </a:prstGeom>
          <a:noFill/>
        </p:spPr>
        <p:txBody>
          <a:bodyPr wrap="square" rtlCol="0">
            <a:spAutoFit/>
          </a:bodyPr>
          <a:lstStyle/>
          <a:p>
            <a:r>
              <a:rPr lang="en-GB" sz="1800" dirty="0">
                <a:effectLst/>
                <a:latin typeface="Poppins" panose="020B0604020202020204" charset="0"/>
                <a:cs typeface="Poppins" panose="020B0604020202020204" charset="0"/>
              </a:rPr>
              <a:t>Pronounced Seasonality: January revenues average $124 M, dipping to $95 M in April.</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SKU Concentration: Products 26 &amp; 25 together drive ~25 % of total sales.</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Channel Trade‑Off: Wholesale captures 54 % of volume; Export leads with ~</a:t>
            </a:r>
            <a:r>
              <a:rPr lang="en-GB" sz="1800" dirty="0">
                <a:latin typeface="Poppins" panose="020B0604020202020204" charset="0"/>
                <a:cs typeface="Poppins" panose="020B0604020202020204" charset="0"/>
              </a:rPr>
              <a:t>38</a:t>
            </a:r>
            <a:r>
              <a:rPr lang="en-GB" sz="1800" dirty="0">
                <a:effectLst/>
                <a:latin typeface="Poppins" panose="020B0604020202020204" charset="0"/>
                <a:cs typeface="Poppins" panose="020B0604020202020204" charset="0"/>
              </a:rPr>
              <a:t> % average margin.</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Geographic Dominance: California alone logs 7.6K orders ($230 M); the West region shows the largest swings.</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Aibox Company and State Ltd are the most valuable customers in terms of Revenue.</a:t>
            </a:r>
            <a:endParaRPr lang="en-IN" sz="1800" dirty="0">
              <a:latin typeface="Poppins" panose="020B0604020202020204" charset="0"/>
              <a:cs typeface="Poppins" panose="020B0604020202020204" charset="0"/>
            </a:endParaRPr>
          </a:p>
        </p:txBody>
      </p:sp>
      <p:sp>
        <p:nvSpPr>
          <p:cNvPr id="14" name="Oval 13">
            <a:extLst>
              <a:ext uri="{FF2B5EF4-FFF2-40B4-BE49-F238E27FC236}">
                <a16:creationId xmlns:a16="http://schemas.microsoft.com/office/drawing/2014/main" id="{353109F4-10B3-441A-97F7-381BC24E7883}"/>
              </a:ext>
            </a:extLst>
          </p:cNvPr>
          <p:cNvSpPr/>
          <p:nvPr/>
        </p:nvSpPr>
        <p:spPr>
          <a:xfrm>
            <a:off x="527390" y="475911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64E0663E-C064-41DE-A025-E5D03F06F96E}"/>
              </a:ext>
            </a:extLst>
          </p:cNvPr>
          <p:cNvSpPr/>
          <p:nvPr/>
        </p:nvSpPr>
        <p:spPr>
          <a:xfrm>
            <a:off x="512525" y="3941560"/>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5498EDB6-D906-4919-84C8-05A8BFB0C35F}"/>
              </a:ext>
            </a:extLst>
          </p:cNvPr>
          <p:cNvSpPr/>
          <p:nvPr/>
        </p:nvSpPr>
        <p:spPr>
          <a:xfrm>
            <a:off x="527771" y="312400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A1858F85-53B7-46EF-A995-0E1C7217880C}"/>
              </a:ext>
            </a:extLst>
          </p:cNvPr>
          <p:cNvSpPr/>
          <p:nvPr/>
        </p:nvSpPr>
        <p:spPr>
          <a:xfrm>
            <a:off x="527390" y="199649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D548245C-3A20-459A-92C5-AF9BAE8FAC8A}"/>
              </a:ext>
            </a:extLst>
          </p:cNvPr>
          <p:cNvSpPr/>
          <p:nvPr/>
        </p:nvSpPr>
        <p:spPr>
          <a:xfrm>
            <a:off x="527390" y="2547301"/>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C2890132-0527-4A5E-83E8-2C03B1F118FF}"/>
              </a:ext>
            </a:extLst>
          </p:cNvPr>
          <p:cNvSpPr txBox="1"/>
          <p:nvPr/>
        </p:nvSpPr>
        <p:spPr>
          <a:xfrm>
            <a:off x="4164848" y="304790"/>
            <a:ext cx="2935321"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Key Insights</a:t>
            </a:r>
            <a:endParaRPr lang="en-IN" dirty="0"/>
          </a:p>
        </p:txBody>
      </p:sp>
      <p:pic>
        <p:nvPicPr>
          <p:cNvPr id="3" name="Picture 2">
            <a:extLst>
              <a:ext uri="{FF2B5EF4-FFF2-40B4-BE49-F238E27FC236}">
                <a16:creationId xmlns:a16="http://schemas.microsoft.com/office/drawing/2014/main" id="{6F5CE90D-841B-42FE-80FE-A63ABB2897FF}"/>
              </a:ext>
            </a:extLst>
          </p:cNvPr>
          <p:cNvPicPr>
            <a:picLocks noChangeAspect="1"/>
          </p:cNvPicPr>
          <p:nvPr/>
        </p:nvPicPr>
        <p:blipFill>
          <a:blip r:embed="rId5"/>
          <a:stretch>
            <a:fillRect/>
          </a:stretch>
        </p:blipFill>
        <p:spPr>
          <a:xfrm>
            <a:off x="6910389" y="304790"/>
            <a:ext cx="622911" cy="51734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g21197e7cf6e_0_204"/>
          <p:cNvPicPr preferRelativeResize="0"/>
          <p:nvPr/>
        </p:nvPicPr>
        <p:blipFill>
          <a:blip r:embed="rId3"/>
          <a:srcRect t="7812" b="7812"/>
          <a:stretch/>
        </p:blipFill>
        <p:spPr>
          <a:xfrm>
            <a:off x="0" y="0"/>
            <a:ext cx="12192000" cy="6858001"/>
          </a:xfrm>
          <a:prstGeom prst="rect">
            <a:avLst/>
          </a:prstGeom>
          <a:noFill/>
          <a:ln>
            <a:noFill/>
          </a:ln>
        </p:spPr>
      </p:pic>
      <p:sp>
        <p:nvSpPr>
          <p:cNvPr id="328" name="Google Shape;328;g21197e7cf6e_0_204"/>
          <p:cNvSpPr txBox="1">
            <a:spLocks noGrp="1"/>
          </p:cNvSpPr>
          <p:nvPr>
            <p:ph type="title"/>
          </p:nvPr>
        </p:nvSpPr>
        <p:spPr>
          <a:xfrm>
            <a:off x="533400" y="-697772"/>
            <a:ext cx="6168300" cy="948300"/>
          </a:xfrm>
          <a:prstGeom prst="rect">
            <a:avLst/>
          </a:prstGeom>
          <a:noFill/>
          <a:ln>
            <a:noFill/>
          </a:ln>
        </p:spPr>
        <p:txBody>
          <a:bodyPr spcFirstLastPara="1" wrap="square" lIns="0" tIns="0" rIns="0" bIns="0" anchor="t" anchorCtr="0">
            <a:spAutoFit/>
          </a:bodyPr>
          <a:lstStyle/>
          <a:p>
            <a:pPr marL="0" lvl="0" indent="0" algn="l" rtl="0">
              <a:lnSpc>
                <a:spcPct val="120000"/>
              </a:lnSpc>
              <a:spcBef>
                <a:spcPts val="0"/>
              </a:spcBef>
              <a:spcAft>
                <a:spcPts val="600"/>
              </a:spcAft>
              <a:buSzPts val="1800"/>
              <a:buNone/>
            </a:pPr>
            <a:r>
              <a:rPr lang="en-US">
                <a:solidFill>
                  <a:schemeClr val="lt1"/>
                </a:solidFill>
              </a:rPr>
              <a:t/>
            </a:r>
            <a:br>
              <a:rPr lang="en-US">
                <a:solidFill>
                  <a:schemeClr val="lt1"/>
                </a:solidFill>
              </a:rPr>
            </a:br>
            <a:endParaRPr>
              <a:solidFill>
                <a:schemeClr val="lt1"/>
              </a:solidFill>
            </a:endParaRPr>
          </a:p>
        </p:txBody>
      </p:sp>
      <p:sp>
        <p:nvSpPr>
          <p:cNvPr id="329" name="Google Shape;329;g21197e7cf6e_0_204"/>
          <p:cNvSpPr/>
          <p:nvPr/>
        </p:nvSpPr>
        <p:spPr>
          <a:xfrm rot="10800000" flipH="1">
            <a:off x="338397" y="6250798"/>
            <a:ext cx="249300" cy="249300"/>
          </a:xfrm>
          <a:prstGeom prst="ellipse">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0" name="Google Shape;330;g21197e7cf6e_0_204"/>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29</a:t>
            </a:fld>
            <a:endParaRPr sz="900" b="0" i="0" u="none" strike="noStrike" cap="none">
              <a:solidFill>
                <a:srgbClr val="FFFFFF"/>
              </a:solidFill>
              <a:latin typeface="Poppins"/>
              <a:ea typeface="Poppins"/>
              <a:cs typeface="Poppins"/>
              <a:sym typeface="Poppins"/>
            </a:endParaRPr>
          </a:p>
        </p:txBody>
      </p:sp>
      <p:sp>
        <p:nvSpPr>
          <p:cNvPr id="331" name="Google Shape;331;g21197e7cf6e_0_204"/>
          <p:cNvSpPr/>
          <p:nvPr/>
        </p:nvSpPr>
        <p:spPr>
          <a:xfrm>
            <a:off x="0" y="2547468"/>
            <a:ext cx="7222500" cy="2325600"/>
          </a:xfrm>
          <a:prstGeom prst="rect">
            <a:avLst/>
          </a:pr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oppins"/>
              <a:ea typeface="Poppins"/>
              <a:cs typeface="Poppins"/>
              <a:sym typeface="Poppins"/>
            </a:endParaRPr>
          </a:p>
        </p:txBody>
      </p:sp>
      <p:sp>
        <p:nvSpPr>
          <p:cNvPr id="332" name="Google Shape;332;g21197e7cf6e_0_204"/>
          <p:cNvSpPr txBox="1"/>
          <p:nvPr/>
        </p:nvSpPr>
        <p:spPr>
          <a:xfrm>
            <a:off x="533400" y="3451325"/>
            <a:ext cx="5057400" cy="594009"/>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600"/>
              </a:spcAft>
              <a:buClr>
                <a:srgbClr val="000000"/>
              </a:buClr>
              <a:buSzPts val="1800"/>
              <a:buFont typeface="Arial"/>
              <a:buNone/>
            </a:pPr>
            <a:r>
              <a:rPr lang="en-US" sz="2800" b="1" i="0" u="none" strike="noStrike" cap="none" dirty="0">
                <a:solidFill>
                  <a:srgbClr val="FFFFFF"/>
                </a:solidFill>
                <a:latin typeface="Poppins"/>
                <a:ea typeface="Poppins"/>
                <a:cs typeface="Poppins"/>
                <a:sym typeface="Poppins"/>
              </a:rPr>
              <a:t>Recommendat</a:t>
            </a:r>
            <a:r>
              <a:rPr lang="en-US" sz="2800" b="1" dirty="0">
                <a:solidFill>
                  <a:srgbClr val="FFFFFF"/>
                </a:solidFill>
                <a:latin typeface="Poppins"/>
                <a:ea typeface="Poppins"/>
                <a:cs typeface="Poppins"/>
                <a:sym typeface="Poppins"/>
              </a:rPr>
              <a:t>ions</a:t>
            </a:r>
            <a:endParaRPr sz="2800" b="0" i="0" u="none" strike="noStrike" cap="none" dirty="0">
              <a:solidFill>
                <a:srgbClr val="FFFFFF"/>
              </a:solidFill>
              <a:latin typeface="Poppins"/>
              <a:ea typeface="Poppins"/>
              <a:cs typeface="Poppins"/>
              <a:sym typeface="Poppins"/>
            </a:endParaRPr>
          </a:p>
        </p:txBody>
      </p:sp>
      <p:pic>
        <p:nvPicPr>
          <p:cNvPr id="333" name="Google Shape;333;g21197e7cf6e_0_204"/>
          <p:cNvPicPr preferRelativeResize="0"/>
          <p:nvPr/>
        </p:nvPicPr>
        <p:blipFill rotWithShape="1">
          <a:blip r:embed="rId4">
            <a:alphaModFix/>
          </a:blip>
          <a:srcRect/>
          <a:stretch/>
        </p:blipFill>
        <p:spPr>
          <a:xfrm>
            <a:off x="533400" y="2835734"/>
            <a:ext cx="518323" cy="518323"/>
          </a:xfrm>
          <a:prstGeom prst="rect">
            <a:avLst/>
          </a:prstGeom>
          <a:noFill/>
          <a:ln>
            <a:noFill/>
          </a:ln>
        </p:spPr>
      </p:pic>
    </p:spTree>
    <p:extLst>
      <p:ext uri="{BB962C8B-B14F-4D97-AF65-F5344CB8AC3E}">
        <p14:creationId xmlns:p14="http://schemas.microsoft.com/office/powerpoint/2010/main" val="79777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30</a:t>
            </a:fld>
            <a:endParaRPr sz="900" b="0" i="0" u="none" strike="noStrike" cap="none">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8" name="TextBox 7">
            <a:extLst>
              <a:ext uri="{FF2B5EF4-FFF2-40B4-BE49-F238E27FC236}">
                <a16:creationId xmlns:a16="http://schemas.microsoft.com/office/drawing/2014/main" id="{2E78C0E6-E39C-48C6-A8B1-C7670646DFC4}"/>
              </a:ext>
            </a:extLst>
          </p:cNvPr>
          <p:cNvSpPr txBox="1"/>
          <p:nvPr/>
        </p:nvSpPr>
        <p:spPr>
          <a:xfrm>
            <a:off x="737648" y="1614792"/>
            <a:ext cx="11303283" cy="3970318"/>
          </a:xfrm>
          <a:prstGeom prst="rect">
            <a:avLst/>
          </a:prstGeom>
          <a:noFill/>
        </p:spPr>
        <p:txBody>
          <a:bodyPr wrap="square">
            <a:spAutoFit/>
          </a:bodyPr>
          <a:lstStyle/>
          <a:p>
            <a:r>
              <a:rPr lang="en-GB" sz="1800" dirty="0">
                <a:effectLst/>
                <a:latin typeface="Poppins" panose="020B0604020202020204" charset="0"/>
                <a:cs typeface="Poppins" panose="020B0604020202020204" charset="0"/>
              </a:rPr>
              <a:t>Seasonal Promotions: Launch recovery campaigns in April and amplify January offers to smooth revenue swings.</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SKU Optimization: Double down on top products 26 &amp; 25 and re-evaluate pricing or phase out low‑margin SKUs.</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Channel Expansion: Incentivize Export partnerships for high margins and introduce volume deals in Wholesale.</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Regional Investment: Replicate California’s success in other regions and boost marketing in the Northeast &amp; Midwest.</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
            </a:r>
            <a:br>
              <a:rPr lang="en-GB" sz="1800" dirty="0">
                <a:effectLst/>
                <a:latin typeface="Poppins" panose="020B0604020202020204" charset="0"/>
                <a:cs typeface="Poppins" panose="020B0604020202020204" charset="0"/>
              </a:rPr>
            </a:br>
            <a:r>
              <a:rPr lang="en-GB" sz="1800" dirty="0">
                <a:effectLst/>
                <a:latin typeface="Poppins" panose="020B0604020202020204" charset="0"/>
                <a:cs typeface="Poppins" panose="020B0604020202020204" charset="0"/>
              </a:rPr>
              <a:t>Margin Monitoring: Flag orders below 80 % margin and analyse cost drivers to uplift underperforming segments.</a:t>
            </a:r>
            <a:endParaRPr lang="en-IN" sz="1800" dirty="0">
              <a:latin typeface="Poppins" panose="020B0604020202020204" charset="0"/>
              <a:cs typeface="Poppins" panose="020B0604020202020204" charset="0"/>
            </a:endParaRPr>
          </a:p>
        </p:txBody>
      </p:sp>
      <p:sp>
        <p:nvSpPr>
          <p:cNvPr id="9" name="Oval 8">
            <a:extLst>
              <a:ext uri="{FF2B5EF4-FFF2-40B4-BE49-F238E27FC236}">
                <a16:creationId xmlns:a16="http://schemas.microsoft.com/office/drawing/2014/main" id="{25899429-0509-4954-9904-127D47897E3B}"/>
              </a:ext>
            </a:extLst>
          </p:cNvPr>
          <p:cNvSpPr/>
          <p:nvPr/>
        </p:nvSpPr>
        <p:spPr>
          <a:xfrm>
            <a:off x="477055" y="175265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78474A8C-FCEA-44E1-B5DC-1F14CF23E711}"/>
              </a:ext>
            </a:extLst>
          </p:cNvPr>
          <p:cNvSpPr/>
          <p:nvPr/>
        </p:nvSpPr>
        <p:spPr>
          <a:xfrm>
            <a:off x="481400" y="2550219"/>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41993E46-DEA3-4076-A647-F1F327237E38}"/>
              </a:ext>
            </a:extLst>
          </p:cNvPr>
          <p:cNvSpPr/>
          <p:nvPr/>
        </p:nvSpPr>
        <p:spPr>
          <a:xfrm>
            <a:off x="477055" y="3363387"/>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238A4CC3-DB46-44AD-BB29-BD6BA46686DB}"/>
              </a:ext>
            </a:extLst>
          </p:cNvPr>
          <p:cNvSpPr/>
          <p:nvPr/>
        </p:nvSpPr>
        <p:spPr>
          <a:xfrm>
            <a:off x="477055" y="4195106"/>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F82211C-C064-4556-A886-C9550795DB0D}"/>
              </a:ext>
            </a:extLst>
          </p:cNvPr>
          <p:cNvSpPr/>
          <p:nvPr/>
        </p:nvSpPr>
        <p:spPr>
          <a:xfrm>
            <a:off x="475272" y="502682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BD1BCE4D-6158-41FE-8612-9E4DC07FD841}"/>
              </a:ext>
            </a:extLst>
          </p:cNvPr>
          <p:cNvPicPr>
            <a:picLocks noChangeAspect="1"/>
          </p:cNvPicPr>
          <p:nvPr/>
        </p:nvPicPr>
        <p:blipFill>
          <a:blip r:embed="rId5"/>
          <a:stretch>
            <a:fillRect/>
          </a:stretch>
        </p:blipFill>
        <p:spPr>
          <a:xfrm>
            <a:off x="7566931" y="403435"/>
            <a:ext cx="449038" cy="449038"/>
          </a:xfrm>
          <a:prstGeom prst="rect">
            <a:avLst/>
          </a:prstGeom>
        </p:spPr>
      </p:pic>
      <p:sp>
        <p:nvSpPr>
          <p:cNvPr id="15" name="TextBox 14">
            <a:extLst>
              <a:ext uri="{FF2B5EF4-FFF2-40B4-BE49-F238E27FC236}">
                <a16:creationId xmlns:a16="http://schemas.microsoft.com/office/drawing/2014/main" id="{83D71369-AFB0-40E1-B98D-52352B364C5E}"/>
              </a:ext>
            </a:extLst>
          </p:cNvPr>
          <p:cNvSpPr txBox="1"/>
          <p:nvPr/>
        </p:nvSpPr>
        <p:spPr>
          <a:xfrm>
            <a:off x="3336173" y="335567"/>
            <a:ext cx="4455277" cy="584775"/>
          </a:xfrm>
          <a:prstGeom prst="rect">
            <a:avLst/>
          </a:prstGeom>
          <a:noFill/>
        </p:spPr>
        <p:txBody>
          <a:bodyPr wrap="square">
            <a:spAutoFit/>
          </a:bodyPr>
          <a:lstStyle/>
          <a:p>
            <a:r>
              <a:rPr kumimoji="0" lang="en-IN" sz="3200" b="1" i="0" u="none" strike="noStrike" kern="0" cap="none" spc="0" normalizeH="0" baseline="0" noProof="0" dirty="0">
                <a:ln>
                  <a:noFill/>
                </a:ln>
                <a:solidFill>
                  <a:srgbClr val="000000">
                    <a:lumMod val="65000"/>
                    <a:lumOff val="35000"/>
                  </a:srgbClr>
                </a:solidFill>
                <a:effectLst/>
                <a:uLnTx/>
                <a:uFillTx/>
                <a:latin typeface="Poppins"/>
                <a:cs typeface="Poppins"/>
                <a:sym typeface="Poppins"/>
              </a:rPr>
              <a:t>Recommendations</a:t>
            </a:r>
            <a:endParaRPr lang="en-IN" sz="3200" dirty="0"/>
          </a:p>
        </p:txBody>
      </p:sp>
    </p:spTree>
    <p:extLst>
      <p:ext uri="{BB962C8B-B14F-4D97-AF65-F5344CB8AC3E}">
        <p14:creationId xmlns:p14="http://schemas.microsoft.com/office/powerpoint/2010/main" val="28451232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g21194ee596e_0_187"/>
          <p:cNvSpPr/>
          <p:nvPr/>
        </p:nvSpPr>
        <p:spPr>
          <a:xfrm>
            <a:off x="3596640" y="5699760"/>
            <a:ext cx="8595300" cy="1158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oppins"/>
              <a:ea typeface="Poppins"/>
              <a:cs typeface="Poppins"/>
              <a:sym typeface="Poppins"/>
            </a:endParaRPr>
          </a:p>
        </p:txBody>
      </p:sp>
      <p:sp>
        <p:nvSpPr>
          <p:cNvPr id="264" name="Google Shape;264;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31</a:t>
            </a:fld>
            <a:endParaRPr sz="900" b="0" i="0" u="none" strike="noStrike" cap="none">
              <a:solidFill>
                <a:srgbClr val="FFFFFF"/>
              </a:solidFill>
              <a:latin typeface="Poppins"/>
              <a:ea typeface="Poppins"/>
              <a:cs typeface="Poppins"/>
              <a:sym typeface="Poppins"/>
            </a:endParaRPr>
          </a:p>
        </p:txBody>
      </p:sp>
      <p:pic>
        <p:nvPicPr>
          <p:cNvPr id="265" name="Google Shape;265;g21194ee596e_0_187"/>
          <p:cNvPicPr preferRelativeResize="0"/>
          <p:nvPr/>
        </p:nvPicPr>
        <p:blipFill rotWithShape="1">
          <a:blip r:embed="rId3">
            <a:alphaModFix/>
          </a:blip>
          <a:srcRect/>
          <a:stretch/>
        </p:blipFill>
        <p:spPr>
          <a:xfrm>
            <a:off x="10680519" y="6258025"/>
            <a:ext cx="1165860" cy="234849"/>
          </a:xfrm>
          <a:prstGeom prst="rect">
            <a:avLst/>
          </a:prstGeom>
          <a:noFill/>
          <a:ln>
            <a:noFill/>
          </a:ln>
        </p:spPr>
      </p:pic>
      <p:sp>
        <p:nvSpPr>
          <p:cNvPr id="267" name="Google Shape;267;g21194ee596e_0_187"/>
          <p:cNvSpPr txBox="1">
            <a:spLocks noGrp="1"/>
          </p:cNvSpPr>
          <p:nvPr>
            <p:ph type="sldNum" idx="12"/>
          </p:nvPr>
        </p:nvSpPr>
        <p:spPr>
          <a:xfrm>
            <a:off x="382895" y="6306200"/>
            <a:ext cx="160200" cy="1386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000000"/>
              </a:buClr>
              <a:buSzPts val="900"/>
              <a:buFont typeface="Arial"/>
              <a:buNone/>
            </a:pPr>
            <a:fld id="{00000000-1234-1234-1234-123412341234}" type="slidenum">
              <a:rPr lang="en-US" sz="900" b="0" i="0" u="none" strike="noStrike" cap="none">
                <a:solidFill>
                  <a:srgbClr val="FFFFFF"/>
                </a:solidFill>
                <a:latin typeface="Poppins"/>
                <a:ea typeface="Poppins"/>
                <a:cs typeface="Poppins"/>
                <a:sym typeface="Poppins"/>
              </a:rPr>
              <a:t>31</a:t>
            </a:fld>
            <a:endParaRPr sz="900" b="0" i="0" u="none" strike="noStrike" cap="none" dirty="0">
              <a:solidFill>
                <a:srgbClr val="FFFFFF"/>
              </a:solidFill>
              <a:latin typeface="Poppins"/>
              <a:ea typeface="Poppins"/>
              <a:cs typeface="Poppins"/>
              <a:sym typeface="Poppins"/>
            </a:endParaRPr>
          </a:p>
        </p:txBody>
      </p:sp>
      <p:pic>
        <p:nvPicPr>
          <p:cNvPr id="269" name="Google Shape;269;g21194ee596e_0_187"/>
          <p:cNvPicPr preferRelativeResize="0"/>
          <p:nvPr/>
        </p:nvPicPr>
        <p:blipFill rotWithShape="1">
          <a:blip r:embed="rId4">
            <a:alphaModFix/>
          </a:blip>
          <a:srcRect/>
          <a:stretch/>
        </p:blipFill>
        <p:spPr>
          <a:xfrm>
            <a:off x="5733330" y="3882885"/>
            <a:ext cx="145275" cy="423000"/>
          </a:xfrm>
          <a:prstGeom prst="rect">
            <a:avLst/>
          </a:prstGeom>
          <a:noFill/>
          <a:ln>
            <a:noFill/>
          </a:ln>
        </p:spPr>
      </p:pic>
      <p:sp>
        <p:nvSpPr>
          <p:cNvPr id="11" name="Oval 10">
            <a:extLst>
              <a:ext uri="{FF2B5EF4-FFF2-40B4-BE49-F238E27FC236}">
                <a16:creationId xmlns:a16="http://schemas.microsoft.com/office/drawing/2014/main" id="{41993E46-DEA3-4076-A647-F1F327237E38}"/>
              </a:ext>
            </a:extLst>
          </p:cNvPr>
          <p:cNvSpPr/>
          <p:nvPr/>
        </p:nvSpPr>
        <p:spPr>
          <a:xfrm>
            <a:off x="7172383" y="2383375"/>
            <a:ext cx="132080" cy="131225"/>
          </a:xfrm>
          <a:prstGeom prst="ellipse">
            <a:avLst/>
          </a:prstGeom>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EF86CAF-AF8E-4B21-8106-07E3225F85F6}"/>
              </a:ext>
            </a:extLst>
          </p:cNvPr>
          <p:cNvSpPr txBox="1"/>
          <p:nvPr/>
        </p:nvSpPr>
        <p:spPr>
          <a:xfrm>
            <a:off x="3940497" y="1800953"/>
            <a:ext cx="4486104" cy="1015663"/>
          </a:xfrm>
          <a:prstGeom prst="rect">
            <a:avLst/>
          </a:prstGeom>
          <a:noFill/>
        </p:spPr>
        <p:txBody>
          <a:bodyPr wrap="square">
            <a:spAutoFit/>
          </a:bodyPr>
          <a:lstStyle/>
          <a:p>
            <a:r>
              <a:rPr lang="en-IN" sz="6000" b="1" dirty="0">
                <a:solidFill>
                  <a:srgbClr val="000000">
                    <a:lumMod val="65000"/>
                    <a:lumOff val="35000"/>
                  </a:srgbClr>
                </a:solidFill>
                <a:latin typeface="Comic Sans MS" panose="030F0702030302020204" pitchFamily="66" charset="0"/>
                <a:cs typeface="Poppins"/>
                <a:sym typeface="Poppins"/>
              </a:rPr>
              <a:t>T</a:t>
            </a:r>
            <a:r>
              <a:rPr kumimoji="0" lang="en-IN" sz="6000" b="1" i="0" u="none" strike="noStrike" kern="0" cap="none" spc="0" normalizeH="0" baseline="0" noProof="0" dirty="0">
                <a:ln>
                  <a:noFill/>
                </a:ln>
                <a:solidFill>
                  <a:srgbClr val="000000">
                    <a:lumMod val="65000"/>
                    <a:lumOff val="35000"/>
                  </a:srgbClr>
                </a:solidFill>
                <a:effectLst/>
                <a:uLnTx/>
                <a:uFillTx/>
                <a:latin typeface="Comic Sans MS" panose="030F0702030302020204" pitchFamily="66" charset="0"/>
                <a:cs typeface="Poppins"/>
                <a:sym typeface="Poppins"/>
              </a:rPr>
              <a:t>hank You</a:t>
            </a:r>
            <a:endParaRPr lang="en-IN" sz="6000" dirty="0">
              <a:latin typeface="Comic Sans MS" panose="030F0702030302020204" pitchFamily="66" charset="0"/>
            </a:endParaRPr>
          </a:p>
        </p:txBody>
      </p:sp>
      <p:pic>
        <p:nvPicPr>
          <p:cNvPr id="3" name="Picture 2">
            <a:extLst>
              <a:ext uri="{FF2B5EF4-FFF2-40B4-BE49-F238E27FC236}">
                <a16:creationId xmlns:a16="http://schemas.microsoft.com/office/drawing/2014/main" id="{7DECB025-957C-446A-AEFE-4D398A3F1C67}"/>
              </a:ext>
            </a:extLst>
          </p:cNvPr>
          <p:cNvPicPr>
            <a:picLocks noChangeAspect="1"/>
          </p:cNvPicPr>
          <p:nvPr/>
        </p:nvPicPr>
        <p:blipFill>
          <a:blip r:embed="rId5"/>
          <a:srcRect/>
          <a:stretch/>
        </p:blipFill>
        <p:spPr>
          <a:xfrm>
            <a:off x="4430104" y="2938837"/>
            <a:ext cx="3029082" cy="3029082"/>
          </a:xfrm>
          <a:prstGeom prst="rect">
            <a:avLst/>
          </a:prstGeom>
        </p:spPr>
      </p:pic>
    </p:spTree>
    <p:extLst>
      <p:ext uri="{BB962C8B-B14F-4D97-AF65-F5344CB8AC3E}">
        <p14:creationId xmlns:p14="http://schemas.microsoft.com/office/powerpoint/2010/main" val="3475123761"/>
      </p:ext>
    </p:extLst>
  </p:cSld>
  <p:clrMapOvr>
    <a:masterClrMapping/>
  </p:clrMapOvr>
</p:sld>
</file>

<file path=ppt/theme/theme1.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990">
      <a:dk1>
        <a:srgbClr val="000000"/>
      </a:dk1>
      <a:lt1>
        <a:srgbClr val="FFFFFF"/>
      </a:lt1>
      <a:dk2>
        <a:srgbClr val="758294"/>
      </a:dk2>
      <a:lt2>
        <a:srgbClr val="FFFFFF"/>
      </a:lt2>
      <a:accent1>
        <a:srgbClr val="4A6F94"/>
      </a:accent1>
      <a:accent2>
        <a:srgbClr val="2181FF"/>
      </a:accent2>
      <a:accent3>
        <a:srgbClr val="283D56"/>
      </a:accent3>
      <a:accent4>
        <a:srgbClr val="00A1CC"/>
      </a:accent4>
      <a:accent5>
        <a:srgbClr val="919CAB"/>
      </a:accent5>
      <a:accent6>
        <a:srgbClr val="005A8D"/>
      </a:accent6>
      <a:hlink>
        <a:srgbClr val="F0EFEE"/>
      </a:hlink>
      <a:folHlink>
        <a:srgbClr val="F0EFE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981</TotalTime>
  <Words>924</Words>
  <Application>Microsoft Office PowerPoint</Application>
  <PresentationFormat>Widescreen</PresentationFormat>
  <Paragraphs>258</Paragraphs>
  <Slides>31</Slides>
  <Notes>31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31</vt:i4>
      </vt:variant>
    </vt:vector>
  </HeadingPairs>
  <TitlesOfParts>
    <vt:vector size="38" baseType="lpstr">
      <vt:lpstr>Arial</vt:lpstr>
      <vt:lpstr>Source Sans Pro</vt:lpstr>
      <vt:lpstr>Poppins</vt:lpstr>
      <vt:lpstr>Calibri</vt:lpstr>
      <vt:lpstr>Comic Sans MS</vt:lpstr>
      <vt:lpstr>1_Office Theme</vt:lpstr>
      <vt:lpstr>1_Office Theme</vt:lpstr>
      <vt:lpstr>PowerPoint Presentation</vt:lpstr>
      <vt:lpstr>Agenda</vt:lpstr>
      <vt:lpstr> </vt:lpstr>
      <vt:lpstr>PowerPoint Presentation</vt:lpstr>
      <vt:lpstr> </vt:lpstr>
      <vt:lpstr>PowerPoint Presentation</vt:lpstr>
      <vt:lpstr> </vt:lpstr>
      <vt:lpstr>PowerPoint Presentation</vt:lpstr>
      <vt:lpstr> </vt:lpstr>
      <vt:lpstr>PowerPoint Presentation</vt:lpstr>
      <vt:lpstr>PowerPoint Presentation</vt:lpstr>
      <vt:lpstr>PowerPoint Presentation</vt:lpstr>
      <vt:lpstr>PowerPoint Presentation</vt:lpstr>
      <vt:lpstr>PowerPoint Presentation</vt:lpstr>
      <vt:lpstr> </vt:lpstr>
      <vt:lpstr>Monthly Sales Trend Over Time</vt:lpstr>
      <vt:lpstr>Top 10 Products by Revenue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Suman Sadhukhan</dc:creator>
  <cp:lastModifiedBy>neeraj yadav</cp:lastModifiedBy>
  <cp:revision>56</cp:revision>
  <dcterms:created xsi:type="dcterms:W3CDTF">2022-09-23T13:48:30Z</dcterms:created>
  <dcterms:modified xsi:type="dcterms:W3CDTF">2025-12-31T03:28:59Z</dcterms:modified>
</cp:coreProperties>
</file>